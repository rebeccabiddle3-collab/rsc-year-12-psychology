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Lst>
  <p:notesMasterIdLst>
    <p:notesMasterId r:id="rId29"/>
  </p:notesMasterIdLst>
  <p:sldIdLst>
    <p:sldId id="257" r:id="rId6"/>
    <p:sldId id="344" r:id="rId7"/>
    <p:sldId id="346" r:id="rId8"/>
    <p:sldId id="347" r:id="rId9"/>
    <p:sldId id="348" r:id="rId10"/>
    <p:sldId id="349" r:id="rId11"/>
    <p:sldId id="350" r:id="rId12"/>
    <p:sldId id="351" r:id="rId13"/>
    <p:sldId id="352" r:id="rId14"/>
    <p:sldId id="353" r:id="rId15"/>
    <p:sldId id="354" r:id="rId16"/>
    <p:sldId id="355" r:id="rId17"/>
    <p:sldId id="357" r:id="rId18"/>
    <p:sldId id="363" r:id="rId19"/>
    <p:sldId id="360" r:id="rId20"/>
    <p:sldId id="362" r:id="rId21"/>
    <p:sldId id="361" r:id="rId22"/>
    <p:sldId id="365" r:id="rId23"/>
    <p:sldId id="364" r:id="rId24"/>
    <p:sldId id="366" r:id="rId25"/>
    <p:sldId id="358" r:id="rId26"/>
    <p:sldId id="367" r:id="rId27"/>
    <p:sldId id="35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4" autoAdjust="0"/>
    <p:restoredTop sz="85068" autoAdjust="0"/>
  </p:normalViewPr>
  <p:slideViewPr>
    <p:cSldViewPr snapToGrid="0">
      <p:cViewPr varScale="1">
        <p:scale>
          <a:sx n="82" d="100"/>
          <a:sy n="82" d="100"/>
        </p:scale>
        <p:origin x="474" y="42"/>
      </p:cViewPr>
      <p:guideLst/>
    </p:cSldViewPr>
  </p:slideViewPr>
  <p:notesTextViewPr>
    <p:cViewPr>
      <p:scale>
        <a:sx n="1" d="1"/>
        <a:sy n="1" d="1"/>
      </p:scale>
      <p:origin x="0" y="0"/>
    </p:cViewPr>
  </p:notesTextViewPr>
  <p:sorterViewPr>
    <p:cViewPr>
      <p:scale>
        <a:sx n="74" d="100"/>
        <a:sy n="74" d="100"/>
      </p:scale>
      <p:origin x="0" y="-1467"/>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Ison" userId="b983573a-0cf9-48f6-89e3-da26c4a59f46" providerId="ADAL" clId="{CEC908C4-D1C9-46EE-9FFC-C9EF66C519EF}"/>
    <pc:docChg chg="undo custSel addSld delSld modSld sldOrd delMainMaster">
      <pc:chgData name="Helen Ison" userId="b983573a-0cf9-48f6-89e3-da26c4a59f46" providerId="ADAL" clId="{CEC908C4-D1C9-46EE-9FFC-C9EF66C519EF}" dt="2025-10-16T03:34:50.360" v="1043" actId="47"/>
      <pc:docMkLst>
        <pc:docMk/>
      </pc:docMkLst>
      <pc:sldChg chg="add setBg">
        <pc:chgData name="Helen Ison" userId="b983573a-0cf9-48f6-89e3-da26c4a59f46" providerId="ADAL" clId="{CEC908C4-D1C9-46EE-9FFC-C9EF66C519EF}" dt="2025-10-16T00:17:07.078" v="20"/>
        <pc:sldMkLst>
          <pc:docMk/>
          <pc:sldMk cId="3773835976" sldId="344"/>
        </pc:sldMkLst>
      </pc:sldChg>
      <pc:sldChg chg="modSp add mod setBg">
        <pc:chgData name="Helen Ison" userId="b983573a-0cf9-48f6-89e3-da26c4a59f46" providerId="ADAL" clId="{CEC908C4-D1C9-46EE-9FFC-C9EF66C519EF}" dt="2025-10-16T03:22:24.623" v="1028" actId="13926"/>
        <pc:sldMkLst>
          <pc:docMk/>
          <pc:sldMk cId="248751247" sldId="346"/>
        </pc:sldMkLst>
        <pc:spChg chg="mod">
          <ac:chgData name="Helen Ison" userId="b983573a-0cf9-48f6-89e3-da26c4a59f46" providerId="ADAL" clId="{CEC908C4-D1C9-46EE-9FFC-C9EF66C519EF}" dt="2025-10-16T03:22:24.623" v="1028" actId="13926"/>
          <ac:spMkLst>
            <pc:docMk/>
            <pc:sldMk cId="248751247" sldId="346"/>
            <ac:spMk id="9" creationId="{00000000-0000-0000-0000-000000000000}"/>
          </ac:spMkLst>
        </pc:spChg>
      </pc:sldChg>
      <pc:sldChg chg="addSp delSp modSp add mod setBg">
        <pc:chgData name="Helen Ison" userId="b983573a-0cf9-48f6-89e3-da26c4a59f46" providerId="ADAL" clId="{CEC908C4-D1C9-46EE-9FFC-C9EF66C519EF}" dt="2025-10-16T02:34:28.511" v="135" actId="6549"/>
        <pc:sldMkLst>
          <pc:docMk/>
          <pc:sldMk cId="3620437023" sldId="347"/>
        </pc:sldMkLst>
        <pc:spChg chg="add del mod">
          <ac:chgData name="Helen Ison" userId="b983573a-0cf9-48f6-89e3-da26c4a59f46" providerId="ADAL" clId="{CEC908C4-D1C9-46EE-9FFC-C9EF66C519EF}" dt="2025-10-16T02:34:28.511" v="135" actId="6549"/>
          <ac:spMkLst>
            <pc:docMk/>
            <pc:sldMk cId="3620437023" sldId="347"/>
            <ac:spMk id="5" creationId="{00000000-0000-0000-0000-000000000000}"/>
          </ac:spMkLst>
        </pc:spChg>
      </pc:sldChg>
      <pc:sldChg chg="add">
        <pc:chgData name="Helen Ison" userId="b983573a-0cf9-48f6-89e3-da26c4a59f46" providerId="ADAL" clId="{CEC908C4-D1C9-46EE-9FFC-C9EF66C519EF}" dt="2025-10-16T00:17:07.078" v="20"/>
        <pc:sldMkLst>
          <pc:docMk/>
          <pc:sldMk cId="241478195" sldId="348"/>
        </pc:sldMkLst>
      </pc:sldChg>
      <pc:sldChg chg="addSp modSp add mod setBg modAnim">
        <pc:chgData name="Helen Ison" userId="b983573a-0cf9-48f6-89e3-da26c4a59f46" providerId="ADAL" clId="{CEC908C4-D1C9-46EE-9FFC-C9EF66C519EF}" dt="2025-10-16T02:52:43.873" v="487" actId="14100"/>
        <pc:sldMkLst>
          <pc:docMk/>
          <pc:sldMk cId="1601255674" sldId="349"/>
        </pc:sldMkLst>
        <pc:spChg chg="mod">
          <ac:chgData name="Helen Ison" userId="b983573a-0cf9-48f6-89e3-da26c4a59f46" providerId="ADAL" clId="{CEC908C4-D1C9-46EE-9FFC-C9EF66C519EF}" dt="2025-10-16T02:52:00.290" v="481" actId="1076"/>
          <ac:spMkLst>
            <pc:docMk/>
            <pc:sldMk cId="1601255674" sldId="349"/>
            <ac:spMk id="5" creationId="{00000000-0000-0000-0000-000000000000}"/>
          </ac:spMkLst>
        </pc:spChg>
        <pc:picChg chg="add mod">
          <ac:chgData name="Helen Ison" userId="b983573a-0cf9-48f6-89e3-da26c4a59f46" providerId="ADAL" clId="{CEC908C4-D1C9-46EE-9FFC-C9EF66C519EF}" dt="2025-10-16T02:52:36.971" v="485" actId="1076"/>
          <ac:picMkLst>
            <pc:docMk/>
            <pc:sldMk cId="1601255674" sldId="349"/>
            <ac:picMk id="2" creationId="{ED2570DA-6A3C-0F84-EEBC-C9B126626E00}"/>
          </ac:picMkLst>
        </pc:picChg>
        <pc:picChg chg="mod">
          <ac:chgData name="Helen Ison" userId="b983573a-0cf9-48f6-89e3-da26c4a59f46" providerId="ADAL" clId="{CEC908C4-D1C9-46EE-9FFC-C9EF66C519EF}" dt="2025-10-16T02:52:43.873" v="487" actId="14100"/>
          <ac:picMkLst>
            <pc:docMk/>
            <pc:sldMk cId="1601255674" sldId="349"/>
            <ac:picMk id="4" creationId="{AD754A69-9145-4740-92F7-E4435FAD67E5}"/>
          </ac:picMkLst>
        </pc:picChg>
      </pc:sldChg>
      <pc:sldChg chg="addSp modSp add mod setBg">
        <pc:chgData name="Helen Ison" userId="b983573a-0cf9-48f6-89e3-da26c4a59f46" providerId="ADAL" clId="{CEC908C4-D1C9-46EE-9FFC-C9EF66C519EF}" dt="2025-10-16T02:46:26.780" v="467" actId="14100"/>
        <pc:sldMkLst>
          <pc:docMk/>
          <pc:sldMk cId="1580895338" sldId="350"/>
        </pc:sldMkLst>
        <pc:spChg chg="mod">
          <ac:chgData name="Helen Ison" userId="b983573a-0cf9-48f6-89e3-da26c4a59f46" providerId="ADAL" clId="{CEC908C4-D1C9-46EE-9FFC-C9EF66C519EF}" dt="2025-10-16T02:46:26.780" v="467" actId="14100"/>
          <ac:spMkLst>
            <pc:docMk/>
            <pc:sldMk cId="1580895338" sldId="350"/>
            <ac:spMk id="5" creationId="{00000000-0000-0000-0000-000000000000}"/>
          </ac:spMkLst>
        </pc:spChg>
        <pc:picChg chg="add mod">
          <ac:chgData name="Helen Ison" userId="b983573a-0cf9-48f6-89e3-da26c4a59f46" providerId="ADAL" clId="{CEC908C4-D1C9-46EE-9FFC-C9EF66C519EF}" dt="2025-10-16T02:46:03.185" v="451" actId="1076"/>
          <ac:picMkLst>
            <pc:docMk/>
            <pc:sldMk cId="1580895338" sldId="350"/>
            <ac:picMk id="1026" creationId="{62C9DC82-3E31-1057-60CF-8D29295D0373}"/>
          </ac:picMkLst>
        </pc:picChg>
      </pc:sldChg>
      <pc:sldChg chg="add setBg">
        <pc:chgData name="Helen Ison" userId="b983573a-0cf9-48f6-89e3-da26c4a59f46" providerId="ADAL" clId="{CEC908C4-D1C9-46EE-9FFC-C9EF66C519EF}" dt="2025-10-16T00:17:07.078" v="20"/>
        <pc:sldMkLst>
          <pc:docMk/>
          <pc:sldMk cId="895829301" sldId="351"/>
        </pc:sldMkLst>
      </pc:sldChg>
      <pc:sldChg chg="add setBg">
        <pc:chgData name="Helen Ison" userId="b983573a-0cf9-48f6-89e3-da26c4a59f46" providerId="ADAL" clId="{CEC908C4-D1C9-46EE-9FFC-C9EF66C519EF}" dt="2025-10-16T00:17:07.078" v="20"/>
        <pc:sldMkLst>
          <pc:docMk/>
          <pc:sldMk cId="1535365739" sldId="352"/>
        </pc:sldMkLst>
      </pc:sldChg>
      <pc:sldChg chg="modSp add mod setBg">
        <pc:chgData name="Helen Ison" userId="b983573a-0cf9-48f6-89e3-da26c4a59f46" providerId="ADAL" clId="{CEC908C4-D1C9-46EE-9FFC-C9EF66C519EF}" dt="2025-10-16T02:36:05.475" v="137" actId="33524"/>
        <pc:sldMkLst>
          <pc:docMk/>
          <pc:sldMk cId="3824067529" sldId="353"/>
        </pc:sldMkLst>
        <pc:spChg chg="mod">
          <ac:chgData name="Helen Ison" userId="b983573a-0cf9-48f6-89e3-da26c4a59f46" providerId="ADAL" clId="{CEC908C4-D1C9-46EE-9FFC-C9EF66C519EF}" dt="2025-10-16T02:36:05.475" v="137" actId="33524"/>
          <ac:spMkLst>
            <pc:docMk/>
            <pc:sldMk cId="3824067529" sldId="353"/>
            <ac:spMk id="5" creationId="{00000000-0000-0000-0000-000000000000}"/>
          </ac:spMkLst>
        </pc:spChg>
      </pc:sldChg>
      <pc:sldChg chg="add setBg">
        <pc:chgData name="Helen Ison" userId="b983573a-0cf9-48f6-89e3-da26c4a59f46" providerId="ADAL" clId="{CEC908C4-D1C9-46EE-9FFC-C9EF66C519EF}" dt="2025-10-16T00:17:07.078" v="20"/>
        <pc:sldMkLst>
          <pc:docMk/>
          <pc:sldMk cId="3114766237" sldId="354"/>
        </pc:sldMkLst>
      </pc:sldChg>
      <pc:sldChg chg="add setBg">
        <pc:chgData name="Helen Ison" userId="b983573a-0cf9-48f6-89e3-da26c4a59f46" providerId="ADAL" clId="{CEC908C4-D1C9-46EE-9FFC-C9EF66C519EF}" dt="2025-10-16T00:17:07.078" v="20"/>
        <pc:sldMkLst>
          <pc:docMk/>
          <pc:sldMk cId="4087794478" sldId="355"/>
        </pc:sldMkLst>
      </pc:sldChg>
      <pc:sldChg chg="add setBg">
        <pc:chgData name="Helen Ison" userId="b983573a-0cf9-48f6-89e3-da26c4a59f46" providerId="ADAL" clId="{CEC908C4-D1C9-46EE-9FFC-C9EF66C519EF}" dt="2025-10-16T00:17:07.078" v="20"/>
        <pc:sldMkLst>
          <pc:docMk/>
          <pc:sldMk cId="1329788483" sldId="357"/>
        </pc:sldMkLst>
      </pc:sldChg>
      <pc:sldChg chg="add setBg">
        <pc:chgData name="Helen Ison" userId="b983573a-0cf9-48f6-89e3-da26c4a59f46" providerId="ADAL" clId="{CEC908C4-D1C9-46EE-9FFC-C9EF66C519EF}" dt="2025-10-16T00:17:07.078" v="20"/>
        <pc:sldMkLst>
          <pc:docMk/>
          <pc:sldMk cId="3867460388" sldId="358"/>
        </pc:sldMkLst>
      </pc:sldChg>
      <pc:sldChg chg="add setBg">
        <pc:chgData name="Helen Ison" userId="b983573a-0cf9-48f6-89e3-da26c4a59f46" providerId="ADAL" clId="{CEC908C4-D1C9-46EE-9FFC-C9EF66C519EF}" dt="2025-10-16T00:17:07.078" v="20"/>
        <pc:sldMkLst>
          <pc:docMk/>
          <pc:sldMk cId="87039891" sldId="359"/>
        </pc:sldMkLst>
      </pc:sldChg>
      <pc:sldChg chg="addSp delSp modSp add mod">
        <pc:chgData name="Helen Ison" userId="b983573a-0cf9-48f6-89e3-da26c4a59f46" providerId="ADAL" clId="{CEC908C4-D1C9-46EE-9FFC-C9EF66C519EF}" dt="2025-10-16T03:06:40.877" v="615" actId="14100"/>
        <pc:sldMkLst>
          <pc:docMk/>
          <pc:sldMk cId="2608922026" sldId="360"/>
        </pc:sldMkLst>
        <pc:spChg chg="add mod">
          <ac:chgData name="Helen Ison" userId="b983573a-0cf9-48f6-89e3-da26c4a59f46" providerId="ADAL" clId="{CEC908C4-D1C9-46EE-9FFC-C9EF66C519EF}" dt="2025-10-16T03:06:40.877" v="615" actId="14100"/>
          <ac:spMkLst>
            <pc:docMk/>
            <pc:sldMk cId="2608922026" sldId="360"/>
            <ac:spMk id="3" creationId="{B5BD1F09-A0C6-252A-BCA9-A2B9A7D156B3}"/>
          </ac:spMkLst>
        </pc:spChg>
        <pc:spChg chg="mod">
          <ac:chgData name="Helen Ison" userId="b983573a-0cf9-48f6-89e3-da26c4a59f46" providerId="ADAL" clId="{CEC908C4-D1C9-46EE-9FFC-C9EF66C519EF}" dt="2025-10-16T03:04:55.556" v="553" actId="1076"/>
          <ac:spMkLst>
            <pc:docMk/>
            <pc:sldMk cId="2608922026" sldId="360"/>
            <ac:spMk id="6" creationId="{5F14B95E-DC9D-F00B-0207-C3DEEB02D1FC}"/>
          </ac:spMkLst>
        </pc:spChg>
        <pc:picChg chg="add mod">
          <ac:chgData name="Helen Ison" userId="b983573a-0cf9-48f6-89e3-da26c4a59f46" providerId="ADAL" clId="{CEC908C4-D1C9-46EE-9FFC-C9EF66C519EF}" dt="2025-10-16T03:04:44.158" v="549" actId="1076"/>
          <ac:picMkLst>
            <pc:docMk/>
            <pc:sldMk cId="2608922026" sldId="360"/>
            <ac:picMk id="4" creationId="{D6F04005-0677-AA1B-D16E-08BC2790B5CA}"/>
          </ac:picMkLst>
        </pc:picChg>
      </pc:sldChg>
      <pc:sldChg chg="modSp add mod">
        <pc:chgData name="Helen Ison" userId="b983573a-0cf9-48f6-89e3-da26c4a59f46" providerId="ADAL" clId="{CEC908C4-D1C9-46EE-9FFC-C9EF66C519EF}" dt="2025-10-16T03:18:02.944" v="990" actId="20577"/>
        <pc:sldMkLst>
          <pc:docMk/>
          <pc:sldMk cId="2380792780" sldId="361"/>
        </pc:sldMkLst>
        <pc:spChg chg="mod">
          <ac:chgData name="Helen Ison" userId="b983573a-0cf9-48f6-89e3-da26c4a59f46" providerId="ADAL" clId="{CEC908C4-D1C9-46EE-9FFC-C9EF66C519EF}" dt="2025-10-16T03:18:02.944" v="990" actId="20577"/>
          <ac:spMkLst>
            <pc:docMk/>
            <pc:sldMk cId="2380792780" sldId="361"/>
            <ac:spMk id="3" creationId="{B823B247-23D6-C002-190B-07616E7FE333}"/>
          </ac:spMkLst>
        </pc:spChg>
        <pc:spChg chg="mod">
          <ac:chgData name="Helen Ison" userId="b983573a-0cf9-48f6-89e3-da26c4a59f46" providerId="ADAL" clId="{CEC908C4-D1C9-46EE-9FFC-C9EF66C519EF}" dt="2025-10-16T00:23:39.701" v="88" actId="20577"/>
          <ac:spMkLst>
            <pc:docMk/>
            <pc:sldMk cId="2380792780" sldId="361"/>
            <ac:spMk id="6" creationId="{1BAA076C-FC52-18A6-3660-53B58667826F}"/>
          </ac:spMkLst>
        </pc:spChg>
      </pc:sldChg>
      <pc:sldChg chg="modSp add mod">
        <pc:chgData name="Helen Ison" userId="b983573a-0cf9-48f6-89e3-da26c4a59f46" providerId="ADAL" clId="{CEC908C4-D1C9-46EE-9FFC-C9EF66C519EF}" dt="2025-10-16T03:08:05.295" v="661" actId="1076"/>
        <pc:sldMkLst>
          <pc:docMk/>
          <pc:sldMk cId="3608706904" sldId="362"/>
        </pc:sldMkLst>
        <pc:spChg chg="mod">
          <ac:chgData name="Helen Ison" userId="b983573a-0cf9-48f6-89e3-da26c4a59f46" providerId="ADAL" clId="{CEC908C4-D1C9-46EE-9FFC-C9EF66C519EF}" dt="2025-10-16T03:08:05.295" v="661" actId="1076"/>
          <ac:spMkLst>
            <pc:docMk/>
            <pc:sldMk cId="3608706904" sldId="362"/>
            <ac:spMk id="3" creationId="{9B4C7361-21DD-F1EF-C0AD-ED74D22E4469}"/>
          </ac:spMkLst>
        </pc:spChg>
      </pc:sldChg>
      <pc:sldChg chg="addSp delSp modSp new mod modAnim">
        <pc:chgData name="Helen Ison" userId="b983573a-0cf9-48f6-89e3-da26c4a59f46" providerId="ADAL" clId="{CEC908C4-D1C9-46EE-9FFC-C9EF66C519EF}" dt="2025-10-16T02:59:15.688" v="536" actId="20577"/>
        <pc:sldMkLst>
          <pc:docMk/>
          <pc:sldMk cId="4125796668" sldId="363"/>
        </pc:sldMkLst>
        <pc:spChg chg="mod">
          <ac:chgData name="Helen Ison" userId="b983573a-0cf9-48f6-89e3-da26c4a59f46" providerId="ADAL" clId="{CEC908C4-D1C9-46EE-9FFC-C9EF66C519EF}" dt="2025-10-16T02:59:15.688" v="536" actId="20577"/>
          <ac:spMkLst>
            <pc:docMk/>
            <pc:sldMk cId="4125796668" sldId="363"/>
            <ac:spMk id="3" creationId="{6FB5DD98-FFC8-E4C1-B834-7E5E3D84A3C6}"/>
          </ac:spMkLst>
        </pc:spChg>
        <pc:picChg chg="add mod">
          <ac:chgData name="Helen Ison" userId="b983573a-0cf9-48f6-89e3-da26c4a59f46" providerId="ADAL" clId="{CEC908C4-D1C9-46EE-9FFC-C9EF66C519EF}" dt="2025-10-16T02:59:08.482" v="529" actId="1076"/>
          <ac:picMkLst>
            <pc:docMk/>
            <pc:sldMk cId="4125796668" sldId="363"/>
            <ac:picMk id="4" creationId="{2029AE64-F1FE-6944-B1A2-43F053A993A9}"/>
          </ac:picMkLst>
        </pc:picChg>
      </pc:sldChg>
      <pc:sldChg chg="addSp delSp modSp new mod ord modAnim">
        <pc:chgData name="Helen Ison" userId="b983573a-0cf9-48f6-89e3-da26c4a59f46" providerId="ADAL" clId="{CEC908C4-D1C9-46EE-9FFC-C9EF66C519EF}" dt="2025-10-16T03:18:50.857" v="1004" actId="14100"/>
        <pc:sldMkLst>
          <pc:docMk/>
          <pc:sldMk cId="1101365484" sldId="364"/>
        </pc:sldMkLst>
        <pc:spChg chg="mod">
          <ac:chgData name="Helen Ison" userId="b983573a-0cf9-48f6-89e3-da26c4a59f46" providerId="ADAL" clId="{CEC908C4-D1C9-46EE-9FFC-C9EF66C519EF}" dt="2025-10-16T03:18:26.504" v="999" actId="27636"/>
          <ac:spMkLst>
            <pc:docMk/>
            <pc:sldMk cId="1101365484" sldId="364"/>
            <ac:spMk id="3" creationId="{E1C22177-05B3-4A0C-92E0-1F3BFD6654CD}"/>
          </ac:spMkLst>
        </pc:spChg>
        <pc:picChg chg="add mod">
          <ac:chgData name="Helen Ison" userId="b983573a-0cf9-48f6-89e3-da26c4a59f46" providerId="ADAL" clId="{CEC908C4-D1C9-46EE-9FFC-C9EF66C519EF}" dt="2025-10-16T03:18:50.857" v="1004" actId="14100"/>
          <ac:picMkLst>
            <pc:docMk/>
            <pc:sldMk cId="1101365484" sldId="364"/>
            <ac:picMk id="4" creationId="{01AAF041-B34B-B76E-93A6-D0D24889AFE0}"/>
          </ac:picMkLst>
        </pc:picChg>
      </pc:sldChg>
      <pc:sldChg chg="addSp delSp modSp new mod modAnim">
        <pc:chgData name="Helen Ison" userId="b983573a-0cf9-48f6-89e3-da26c4a59f46" providerId="ADAL" clId="{CEC908C4-D1C9-46EE-9FFC-C9EF66C519EF}" dt="2025-10-16T03:21:17.723" v="1018" actId="1076"/>
        <pc:sldMkLst>
          <pc:docMk/>
          <pc:sldMk cId="2638846231" sldId="365"/>
        </pc:sldMkLst>
        <pc:spChg chg="mod">
          <ac:chgData name="Helen Ison" userId="b983573a-0cf9-48f6-89e3-da26c4a59f46" providerId="ADAL" clId="{CEC908C4-D1C9-46EE-9FFC-C9EF66C519EF}" dt="2025-10-16T03:21:10.302" v="1016" actId="255"/>
          <ac:spMkLst>
            <pc:docMk/>
            <pc:sldMk cId="2638846231" sldId="365"/>
            <ac:spMk id="3" creationId="{2FCF7A3F-FC07-5A0B-DC3E-D99E4AD3FD72}"/>
          </ac:spMkLst>
        </pc:spChg>
        <pc:picChg chg="add mod">
          <ac:chgData name="Helen Ison" userId="b983573a-0cf9-48f6-89e3-da26c4a59f46" providerId="ADAL" clId="{CEC908C4-D1C9-46EE-9FFC-C9EF66C519EF}" dt="2025-10-16T03:21:17.723" v="1018" actId="1076"/>
          <ac:picMkLst>
            <pc:docMk/>
            <pc:sldMk cId="2638846231" sldId="365"/>
            <ac:picMk id="4" creationId="{21DA1ECD-4F85-C763-5649-7EE299C85980}"/>
          </ac:picMkLst>
        </pc:picChg>
      </pc:sldChg>
      <pc:sldChg chg="modSp add mod">
        <pc:chgData name="Helen Ison" userId="b983573a-0cf9-48f6-89e3-da26c4a59f46" providerId="ADAL" clId="{CEC908C4-D1C9-46EE-9FFC-C9EF66C519EF}" dt="2025-10-16T03:22:51.415" v="1031" actId="13926"/>
        <pc:sldMkLst>
          <pc:docMk/>
          <pc:sldMk cId="417565327" sldId="366"/>
        </pc:sldMkLst>
        <pc:spChg chg="mod">
          <ac:chgData name="Helen Ison" userId="b983573a-0cf9-48f6-89e3-da26c4a59f46" providerId="ADAL" clId="{CEC908C4-D1C9-46EE-9FFC-C9EF66C519EF}" dt="2025-10-16T03:22:51.415" v="1031" actId="13926"/>
          <ac:spMkLst>
            <pc:docMk/>
            <pc:sldMk cId="417565327" sldId="366"/>
            <ac:spMk id="9" creationId="{6D32C645-810F-1DE3-79DE-D0C11642D1DC}"/>
          </ac:spMkLst>
        </pc:spChg>
      </pc:sldChg>
      <pc:sldChg chg="addSp delSp modSp add mod modAnim modNotesTx">
        <pc:chgData name="Helen Ison" userId="b983573a-0cf9-48f6-89e3-da26c4a59f46" providerId="ADAL" clId="{CEC908C4-D1C9-46EE-9FFC-C9EF66C519EF}" dt="2025-10-16T03:33:38.367" v="1041" actId="1076"/>
        <pc:sldMkLst>
          <pc:docMk/>
          <pc:sldMk cId="1550814604" sldId="367"/>
        </pc:sldMkLst>
        <pc:picChg chg="add mod">
          <ac:chgData name="Helen Ison" userId="b983573a-0cf9-48f6-89e3-da26c4a59f46" providerId="ADAL" clId="{CEC908C4-D1C9-46EE-9FFC-C9EF66C519EF}" dt="2025-10-16T03:33:38.367" v="1041" actId="1076"/>
          <ac:picMkLst>
            <pc:docMk/>
            <pc:sldMk cId="1550814604" sldId="367"/>
            <ac:picMk id="4" creationId="{F826EBFB-D863-D7C0-04AD-64EEFDF8AAA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BE07A-9D97-4614-9D85-BAFC0F80F10E}" type="datetimeFigureOut">
              <a:rPr lang="en-AU" smtClean="0"/>
              <a:t>10/11/2025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39361B-47BF-4625-A2C2-E9F81B46D426}" type="slidenum">
              <a:rPr lang="en-AU" smtClean="0"/>
              <a:t>‹#›</a:t>
            </a:fld>
            <a:endParaRPr lang="en-AU"/>
          </a:p>
        </p:txBody>
      </p:sp>
    </p:spTree>
    <p:extLst>
      <p:ext uri="{BB962C8B-B14F-4D97-AF65-F5344CB8AC3E}">
        <p14:creationId xmlns:p14="http://schemas.microsoft.com/office/powerpoint/2010/main" val="206128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Pre-test – Ed Perfect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4028790-E8ED-44C1-A9BE-5595E6D829A6}"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187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3107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51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3785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Ask students to recall what a declarative memory is – (explicit, requires conscious thought, personal experiences / events)</a:t>
            </a:r>
          </a:p>
          <a:p>
            <a:r>
              <a:rPr lang="en-AU" baseline="0" dirty="0"/>
              <a:t>- Ask students to recall the taxi driver case study they should have read – next slide for detail</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4967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the research conducted by Maguire et al., (1997) which showed the hippocampi of taxi drivers who had to learn new routes in new York city were larger than those of individuals in other professions.</a:t>
            </a:r>
          </a:p>
        </p:txBody>
      </p:sp>
      <p:sp>
        <p:nvSpPr>
          <p:cNvPr id="4" name="Slide Number Placeholder 3"/>
          <p:cNvSpPr>
            <a:spLocks noGrp="1"/>
          </p:cNvSpPr>
          <p:nvPr>
            <p:ph type="sldNum" sz="quarter" idx="5"/>
          </p:nvPr>
        </p:nvSpPr>
        <p:spPr/>
        <p:txBody>
          <a:bodyPr/>
          <a:lstStyle/>
          <a:p>
            <a:fld id="{C539361B-47BF-4625-A2C2-E9F81B46D426}" type="slidenum">
              <a:rPr lang="en-AU" smtClean="0"/>
              <a:t>9</a:t>
            </a:fld>
            <a:endParaRPr lang="en-AU"/>
          </a:p>
        </p:txBody>
      </p:sp>
    </p:spTree>
    <p:extLst>
      <p:ext uri="{BB962C8B-B14F-4D97-AF65-F5344CB8AC3E}">
        <p14:creationId xmlns:p14="http://schemas.microsoft.com/office/powerpoint/2010/main" val="362527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baseline="0" dirty="0"/>
              <a:t>The more activated the hippocampus is during learning/memory formation, the more information is retained</a:t>
            </a:r>
          </a:p>
          <a:p>
            <a:pPr marL="171450" indent="-171450">
              <a:buFontTx/>
              <a:buChar char="-"/>
            </a:pPr>
            <a:r>
              <a:rPr lang="en-AU" baseline="0" dirty="0"/>
              <a:t>Ask students to recall the rat case study they should have read – next slide for detail</a:t>
            </a:r>
          </a:p>
          <a:p>
            <a:pPr marL="171450" indent="-171450">
              <a:buFontTx/>
              <a:buChar char="-"/>
            </a:pPr>
            <a:r>
              <a:rPr lang="en-AU" baseline="0" dirty="0"/>
              <a:t>Research has found that those who slept well within the first 30 hours of learning continued to perform better on visual discrimination tasks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093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the research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39361B-47BF-4625-A2C2-E9F81B46D426}"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428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Ask students to recall the role of the amygdala – emotional connections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Ask students to define implicit - </a:t>
            </a:r>
            <a:r>
              <a:rPr lang="en-AU" sz="1200" i="0" dirty="0">
                <a:solidFill>
                  <a:schemeClr val="tx1"/>
                </a:solidFill>
              </a:rPr>
              <a:t>Memories about skills, emotions, preferences, disposition, motor skills conditioning (procedural)</a:t>
            </a: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5117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Ask students to recall the role of the amygdala – emotional connections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Ask students to define implicit - </a:t>
            </a:r>
            <a:r>
              <a:rPr lang="en-AU" sz="1200" i="0" dirty="0">
                <a:solidFill>
                  <a:schemeClr val="tx1"/>
                </a:solidFill>
              </a:rPr>
              <a:t>Memories about skills, emotions, preferences, disposition, motor skills conditioning (procedural)</a:t>
            </a: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0945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09EAD-A88D-8970-6B09-4F6DBEFCC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DA675-534B-C4F0-B9A9-448AED014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0B2AC-C3BF-8EFE-20C0-0030EC1091CE}"/>
              </a:ext>
            </a:extLst>
          </p:cNvPr>
          <p:cNvSpPr>
            <a:spLocks noGrp="1"/>
          </p:cNvSpPr>
          <p:nvPr>
            <p:ph type="body" idx="1"/>
          </p:nvPr>
        </p:nvSpPr>
        <p:spPr/>
        <p:txBody>
          <a:bodyPr/>
          <a:lstStyle/>
          <a:p>
            <a:endParaRPr lang="en-AU" baseline="0" dirty="0"/>
          </a:p>
        </p:txBody>
      </p:sp>
      <p:sp>
        <p:nvSpPr>
          <p:cNvPr id="4" name="Slide Number Placeholder 3">
            <a:extLst>
              <a:ext uri="{FF2B5EF4-FFF2-40B4-BE49-F238E27FC236}">
                <a16:creationId xmlns:a16="http://schemas.microsoft.com/office/drawing/2014/main" id="{4483712D-61E1-F43D-C6BE-7363C56C4AB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6461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4B999-C737-37EB-2870-DF26F62C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3F574-6A08-F07D-A1E1-6E2664053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554B3-BD5D-8BB2-D49A-79FD6EA294FD}"/>
              </a:ext>
            </a:extLst>
          </p:cNvPr>
          <p:cNvSpPr>
            <a:spLocks noGrp="1"/>
          </p:cNvSpPr>
          <p:nvPr>
            <p:ph type="body" idx="1"/>
          </p:nvPr>
        </p:nvSpPr>
        <p:spPr/>
        <p:txBody>
          <a:bodyPr/>
          <a:lstStyle/>
          <a:p>
            <a:endParaRPr lang="en-AU" baseline="0" dirty="0"/>
          </a:p>
        </p:txBody>
      </p:sp>
      <p:sp>
        <p:nvSpPr>
          <p:cNvPr id="4" name="Slide Number Placeholder 3">
            <a:extLst>
              <a:ext uri="{FF2B5EF4-FFF2-40B4-BE49-F238E27FC236}">
                <a16:creationId xmlns:a16="http://schemas.microsoft.com/office/drawing/2014/main" id="{240F979E-CCC6-9B08-84FA-C10AA42E978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856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0313-7A98-D528-98A3-18E28D07B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2E433-8631-4E41-A4FA-31FB35FBF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5306D-5268-0460-EFBF-915D237291EA}"/>
              </a:ext>
            </a:extLst>
          </p:cNvPr>
          <p:cNvSpPr>
            <a:spLocks noGrp="1"/>
          </p:cNvSpPr>
          <p:nvPr>
            <p:ph type="body" idx="1"/>
          </p:nvPr>
        </p:nvSpPr>
        <p:spPr/>
        <p:txBody>
          <a:bodyPr/>
          <a:lstStyle/>
          <a:p>
            <a:endParaRPr lang="en-AU" baseline="0" dirty="0"/>
          </a:p>
        </p:txBody>
      </p:sp>
      <p:sp>
        <p:nvSpPr>
          <p:cNvPr id="4" name="Slide Number Placeholder 3">
            <a:extLst>
              <a:ext uri="{FF2B5EF4-FFF2-40B4-BE49-F238E27FC236}">
                <a16:creationId xmlns:a16="http://schemas.microsoft.com/office/drawing/2014/main" id="{09D48617-77BA-0EFC-4285-FD9F8419BD6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1940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Activity  - Get students to recall the role of procedural memory -  </a:t>
            </a:r>
            <a:r>
              <a:rPr lang="en-AU" sz="1200" i="0" dirty="0">
                <a:solidFill>
                  <a:schemeClr val="tx1"/>
                </a:solidFill>
              </a:rPr>
              <a:t>Memories about skills, emotions, preferences, disposition, motor skills, conditioning – unconscious retrieval</a:t>
            </a:r>
          </a:p>
          <a:p>
            <a:endParaRPr lang="en-AU" sz="1200" i="0" dirty="0">
              <a:solidFill>
                <a:schemeClr val="tx1"/>
              </a:solidFill>
            </a:endParaRP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4282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3149E-D9EE-C7C0-87B9-05CA0C04E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25064-0FC4-DBFD-6ED4-0B14475F3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CFA44-50E4-6E0D-458B-86E9C0818B66}"/>
              </a:ext>
            </a:extLst>
          </p:cNvPr>
          <p:cNvSpPr>
            <a:spLocks noGrp="1"/>
          </p:cNvSpPr>
          <p:nvPr>
            <p:ph type="body" idx="1"/>
          </p:nvPr>
        </p:nvSpPr>
        <p:spPr/>
        <p:txBody>
          <a:bodyPr/>
          <a:lstStyle/>
          <a:p>
            <a:endParaRPr lang="en-AU" sz="1200" i="0" dirty="0">
              <a:solidFill>
                <a:schemeClr val="tx1"/>
              </a:solidFill>
            </a:endParaRPr>
          </a:p>
          <a:p>
            <a:endParaRPr lang="en-AU" baseline="0" dirty="0"/>
          </a:p>
        </p:txBody>
      </p:sp>
      <p:sp>
        <p:nvSpPr>
          <p:cNvPr id="4" name="Slide Number Placeholder 3">
            <a:extLst>
              <a:ext uri="{FF2B5EF4-FFF2-40B4-BE49-F238E27FC236}">
                <a16:creationId xmlns:a16="http://schemas.microsoft.com/office/drawing/2014/main" id="{7ED03921-727C-3B83-6451-F4859421EAF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2926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Discuss Bechara study with students in detail and connotations for conditioned responses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7432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txBody>
          <a:bodyPr/>
          <a:lstStyle/>
          <a:p>
            <a:endParaRPr lang="en-AU"/>
          </a:p>
        </p:txBody>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897705DE-9461-4346-9D5D-B989155D24CE}" type="datetimeFigureOut">
              <a:rPr lang="en-AU" smtClean="0"/>
              <a:t>10/11/2025</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accent1"/>
                </a:solidFill>
              </a:defRPr>
            </a:lvl1pPr>
          </a:lstStyle>
          <a:p>
            <a:fld id="{A6177A87-3B7D-44CC-8271-C4C65D11800F}"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9903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10/11/2025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12752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accent1"/>
                </a:solidFill>
              </a:defRPr>
            </a:lvl1pPr>
          </a:lstStyle>
          <a:p>
            <a:fld id="{897705DE-9461-4346-9D5D-B989155D24CE}" type="datetimeFigureOut">
              <a:rPr lang="en-AU" smtClean="0"/>
              <a:t>10/11/2025</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accent1"/>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A6177A87-3B7D-44CC-8271-C4C65D11800F}"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1199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7705DE-9461-4346-9D5D-B989155D24CE}" type="datetimeFigureOut">
              <a:rPr lang="en-AU" smtClean="0"/>
              <a:t>10/11/2025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443643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705DE-9461-4346-9D5D-B989155D24CE}" type="datetimeFigureOut">
              <a:rPr lang="en-AU" smtClean="0"/>
              <a:t>10/11/2025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35854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7705DE-9461-4346-9D5D-B989155D24CE}" type="datetimeFigureOut">
              <a:rPr lang="en-AU" smtClean="0"/>
              <a:t>10/11/2025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7705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7705DE-9461-4346-9D5D-B989155D24CE}" type="datetimeFigureOut">
              <a:rPr lang="en-AU" smtClean="0"/>
              <a:t>10/11/2025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3568317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10/11/2025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91119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10/11/2025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9268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10/11/2025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165560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897705DE-9461-4346-9D5D-B989155D24CE}" type="datetimeFigureOut">
              <a:rPr lang="en-AU" smtClean="0"/>
              <a:t>10/11/2025</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A6177A87-3B7D-44CC-8271-C4C65D11800F}"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240843"/>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Slide">
    <p:bg>
      <p:bgPr>
        <a:solidFill>
          <a:schemeClr val="bg1"/>
        </a:solidFill>
        <a:effectLst/>
      </p:bgPr>
    </p:bg>
    <p:spTree>
      <p:nvGrpSpPr>
        <p:cNvPr id="1" name=""/>
        <p:cNvGrpSpPr/>
        <p:nvPr/>
      </p:nvGrpSpPr>
      <p:grpSpPr>
        <a:xfrm>
          <a:off x="0" y="0"/>
          <a:ext cx="0" cy="0"/>
          <a:chOff x="0" y="0"/>
          <a:chExt cx="0" cy="0"/>
        </a:xfrm>
      </p:grpSpPr>
      <p:sp>
        <p:nvSpPr>
          <p:cNvPr id="20" name="Title Placeholder 4"/>
          <p:cNvSpPr>
            <a:spLocks noGrp="1"/>
          </p:cNvSpPr>
          <p:nvPr>
            <p:ph type="title" hasCustomPrompt="1"/>
          </p:nvPr>
        </p:nvSpPr>
        <p:spPr>
          <a:xfrm>
            <a:off x="888815" y="3675951"/>
            <a:ext cx="10411032" cy="707216"/>
          </a:xfrm>
          <a:prstGeom prst="rect">
            <a:avLst/>
          </a:prstGeom>
          <a:ln w="57150">
            <a:noFill/>
          </a:ln>
        </p:spPr>
        <p:txBody>
          <a:bodyPr vert="horz" lIns="91440" tIns="45720" rIns="91440" bIns="45720" rtlCol="0" anchor="ctr" anchorCtr="0">
            <a:noAutofit/>
          </a:bodyPr>
          <a:lstStyle>
            <a:lvl1pPr algn="ctr">
              <a:defRPr sz="3600" b="1">
                <a:solidFill>
                  <a:srgbClr val="FDBA1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Presentation Title</a:t>
            </a:r>
            <a:endParaRPr lang="en-AU" dirty="0"/>
          </a:p>
        </p:txBody>
      </p:sp>
      <p:sp>
        <p:nvSpPr>
          <p:cNvPr id="21" name="Text Placeholder 2"/>
          <p:cNvSpPr>
            <a:spLocks noGrp="1"/>
          </p:cNvSpPr>
          <p:nvPr>
            <p:ph type="body" sz="quarter" idx="10" hasCustomPrompt="1"/>
          </p:nvPr>
        </p:nvSpPr>
        <p:spPr>
          <a:xfrm>
            <a:off x="888815" y="4599078"/>
            <a:ext cx="10411032" cy="999265"/>
          </a:xfrm>
          <a:prstGeom prst="rect">
            <a:avLst/>
          </a:prstGeom>
        </p:spPr>
        <p:txBody>
          <a:bodyPr/>
          <a:lstStyle>
            <a:lvl1pPr marL="0" indent="0" algn="ctr">
              <a:buFontTx/>
              <a:buNone/>
              <a:defRPr sz="2800" b="1">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Subtitle</a:t>
            </a:r>
          </a:p>
        </p:txBody>
      </p:sp>
      <p:sp>
        <p:nvSpPr>
          <p:cNvPr id="11" name="TextBox 10"/>
          <p:cNvSpPr txBox="1"/>
          <p:nvPr userDrawn="1"/>
        </p:nvSpPr>
        <p:spPr>
          <a:xfrm>
            <a:off x="9191625" y="6381750"/>
            <a:ext cx="2727029" cy="200055"/>
          </a:xfrm>
          <a:prstGeom prst="rect">
            <a:avLst/>
          </a:prstGeom>
          <a:noFill/>
        </p:spPr>
        <p:txBody>
          <a:bodyPr wrap="none" rtlCol="0">
            <a:spAutoFit/>
          </a:bodyPr>
          <a:lstStyle/>
          <a:p>
            <a:r>
              <a:rPr lang="en-AU" sz="700" dirty="0">
                <a:solidFill>
                  <a:schemeClr val="tx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8700" y="955984"/>
            <a:ext cx="6291262" cy="2432805"/>
          </a:xfrm>
          <a:prstGeom prst="rect">
            <a:avLst/>
          </a:prstGeom>
        </p:spPr>
      </p:pic>
    </p:spTree>
    <p:extLst>
      <p:ext uri="{BB962C8B-B14F-4D97-AF65-F5344CB8AC3E}">
        <p14:creationId xmlns:p14="http://schemas.microsoft.com/office/powerpoint/2010/main" val="355107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ro Image/Testimonial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298" y="495576"/>
            <a:ext cx="1642769" cy="608313"/>
          </a:xfrm>
          <a:prstGeom prst="rect">
            <a:avLst/>
          </a:prstGeom>
        </p:spPr>
      </p:pic>
      <p:sp>
        <p:nvSpPr>
          <p:cNvPr id="6" name="Title Placeholder 4"/>
          <p:cNvSpPr>
            <a:spLocks noGrp="1"/>
          </p:cNvSpPr>
          <p:nvPr>
            <p:ph type="title" hasCustomPrompt="1"/>
          </p:nvPr>
        </p:nvSpPr>
        <p:spPr>
          <a:xfrm>
            <a:off x="499298" y="2088326"/>
            <a:ext cx="4171762" cy="2011234"/>
          </a:xfrm>
          <a:prstGeom prst="rect">
            <a:avLst/>
          </a:prstGeom>
          <a:solidFill>
            <a:schemeClr val="tx1">
              <a:alpha val="70000"/>
            </a:schemeClr>
          </a:solidFill>
          <a:ln w="57150">
            <a:noFill/>
          </a:ln>
        </p:spPr>
        <p:txBody>
          <a:bodyPr vert="horz" lIns="91440" tIns="45720" rIns="91440" bIns="45720" rtlCol="0" anchor="ctr" anchorCtr="0">
            <a:normAutofit/>
          </a:bodyPr>
          <a:lstStyle>
            <a:lvl1pPr algn="ctr">
              <a:defRPr sz="2800" b="1"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“Pull-out quote</a:t>
            </a:r>
            <a:br>
              <a:rPr lang="en-US" dirty="0"/>
            </a:br>
            <a:r>
              <a:rPr lang="en-US" dirty="0"/>
              <a:t>or testimonial”</a:t>
            </a:r>
            <a:endParaRPr lang="en-AU" dirty="0"/>
          </a:p>
        </p:txBody>
      </p:sp>
    </p:spTree>
    <p:extLst>
      <p:ext uri="{BB962C8B-B14F-4D97-AF65-F5344CB8AC3E}">
        <p14:creationId xmlns:p14="http://schemas.microsoft.com/office/powerpoint/2010/main" val="2616225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lank P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897699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 Hero Imag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5"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
        <p:nvSpPr>
          <p:cNvPr id="6"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sp>
        <p:nvSpPr>
          <p:cNvPr id="8" name="Picture Placeholder 7"/>
          <p:cNvSpPr>
            <a:spLocks noGrp="1"/>
          </p:cNvSpPr>
          <p:nvPr>
            <p:ph type="pic" sz="quarter" idx="12"/>
          </p:nvPr>
        </p:nvSpPr>
        <p:spPr>
          <a:xfrm>
            <a:off x="7553325" y="0"/>
            <a:ext cx="4638675" cy="6858000"/>
          </a:xfrm>
          <a:prstGeom prst="rect">
            <a:avLst/>
          </a:prstGeom>
        </p:spPr>
        <p:txBody>
          <a:bodyPr/>
          <a:lstStyle>
            <a:lvl1pPr algn="ctr">
              <a:defRPr/>
            </a:lvl1pPr>
          </a:lstStyle>
          <a:p>
            <a:endParaRPr lang="en-AU"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688175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t + Bullet List">
    <p:spTree>
      <p:nvGrpSpPr>
        <p:cNvPr id="1" name=""/>
        <p:cNvGrpSpPr/>
        <p:nvPr/>
      </p:nvGrpSpPr>
      <p:grpSpPr>
        <a:xfrm>
          <a:off x="0" y="0"/>
          <a:ext cx="0" cy="0"/>
          <a:chOff x="0" y="0"/>
          <a:chExt cx="0" cy="0"/>
        </a:xfrm>
      </p:grpSpPr>
      <p:sp>
        <p:nvSpPr>
          <p:cNvPr id="9" name="Content Placeholder 8"/>
          <p:cNvSpPr>
            <a:spLocks noGrp="1"/>
          </p:cNvSpPr>
          <p:nvPr>
            <p:ph sz="quarter" idx="12" hasCustomPrompt="1"/>
          </p:nvPr>
        </p:nvSpPr>
        <p:spPr>
          <a:xfrm>
            <a:off x="7553325" y="1748707"/>
            <a:ext cx="4291012" cy="4794967"/>
          </a:xfrm>
          <a:prstGeom prst="rect">
            <a:avLst/>
          </a:prstGeom>
        </p:spPr>
        <p:txBody>
          <a:bodyPr/>
          <a:lstStyle>
            <a:lvl1pPr marL="571500" indent="-571500">
              <a:buClr>
                <a:srgbClr val="FDBA12"/>
              </a:buClr>
              <a:buFont typeface="Wingdings" panose="05000000000000000000" pitchFamily="2" charset="2"/>
              <a:buChar char="§"/>
              <a:defRPr sz="2000" baseline="0"/>
            </a:lvl1pPr>
            <a:lvl2pPr marL="800100" indent="-342900">
              <a:buFont typeface="Wingdings" panose="05000000000000000000" pitchFamily="2" charset="2"/>
              <a:buChar char="§"/>
              <a:defRPr sz="2000" baseline="0"/>
            </a:lvl2pPr>
            <a:lvl3pPr marL="1257300" indent="-342900">
              <a:buClr>
                <a:srgbClr val="FDBA12"/>
              </a:buClr>
              <a:buFont typeface="Wingdings" panose="05000000000000000000" pitchFamily="2" charset="2"/>
              <a:buChar char="§"/>
              <a:defRPr sz="1800"/>
            </a:lvl3pPr>
            <a:lvl4pPr marL="1657350" indent="-285750">
              <a:buFont typeface="Wingdings" panose="05000000000000000000" pitchFamily="2" charset="2"/>
              <a:buChar char="§"/>
              <a:defRPr sz="1600" baseline="0"/>
            </a:lvl4pPr>
            <a:lvl5pPr marL="2114550" indent="-285750">
              <a:buFont typeface="Wingdings" panose="05000000000000000000" pitchFamily="2" charset="2"/>
              <a:buChar char="§"/>
              <a:defRPr/>
            </a:lvl5pPr>
          </a:lstStyle>
          <a:p>
            <a:pPr lvl="0"/>
            <a:r>
              <a:rPr lang="en-US" dirty="0"/>
              <a:t>First Level bullet point</a:t>
            </a:r>
          </a:p>
          <a:p>
            <a:pPr lvl="1"/>
            <a:r>
              <a:rPr lang="en-US" dirty="0"/>
              <a:t>Second level bullet point</a:t>
            </a:r>
          </a:p>
          <a:p>
            <a:pPr lvl="2"/>
            <a:r>
              <a:rPr lang="en-US" dirty="0"/>
              <a:t>Third level bullet point</a:t>
            </a:r>
          </a:p>
          <a:p>
            <a:pPr lvl="3"/>
            <a:r>
              <a:rPr lang="en-US" dirty="0"/>
              <a:t>Fourth level bullet point</a:t>
            </a:r>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
        <p:nvSpPr>
          <p:cNvPr id="11"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Tree>
    <p:extLst>
      <p:ext uri="{BB962C8B-B14F-4D97-AF65-F5344CB8AC3E}">
        <p14:creationId xmlns:p14="http://schemas.microsoft.com/office/powerpoint/2010/main" val="959689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t + Table/Chart">
    <p:spTree>
      <p:nvGrpSpPr>
        <p:cNvPr id="1" name=""/>
        <p:cNvGrpSpPr/>
        <p:nvPr/>
      </p:nvGrpSpPr>
      <p:grpSpPr>
        <a:xfrm>
          <a:off x="0" y="0"/>
          <a:ext cx="0" cy="0"/>
          <a:chOff x="0" y="0"/>
          <a:chExt cx="0" cy="0"/>
        </a:xfrm>
      </p:grpSpPr>
      <p:sp>
        <p:nvSpPr>
          <p:cNvPr id="4" name="Table Placeholder 3"/>
          <p:cNvSpPr>
            <a:spLocks noGrp="1"/>
          </p:cNvSpPr>
          <p:nvPr>
            <p:ph type="tbl" sz="quarter" idx="11"/>
          </p:nvPr>
        </p:nvSpPr>
        <p:spPr>
          <a:xfrm>
            <a:off x="355599" y="3791089"/>
            <a:ext cx="6739467" cy="2752586"/>
          </a:xfrm>
          <a:prstGeom prst="rect">
            <a:avLst/>
          </a:prstGeom>
          <a:noFill/>
        </p:spPr>
        <p:txBody>
          <a:bodyPr anchor="t" anchorCtr="0"/>
          <a:lstStyle/>
          <a:p>
            <a:endParaRPr lang="en-AU" dirty="0"/>
          </a:p>
        </p:txBody>
      </p:sp>
      <p:sp>
        <p:nvSpPr>
          <p:cNvPr id="9" name="Chart Placeholder 8"/>
          <p:cNvSpPr>
            <a:spLocks noGrp="1"/>
          </p:cNvSpPr>
          <p:nvPr>
            <p:ph type="chart" sz="quarter" idx="12"/>
          </p:nvPr>
        </p:nvSpPr>
        <p:spPr>
          <a:xfrm>
            <a:off x="7543800" y="1748707"/>
            <a:ext cx="4295775" cy="4794967"/>
          </a:xfrm>
          <a:prstGeom prst="rect">
            <a:avLst/>
          </a:prstGeom>
          <a:noFill/>
        </p:spPr>
        <p:txBody>
          <a:bodyPr/>
          <a:lstStyle/>
          <a:p>
            <a:endParaRPr lang="en-AU" dirty="0"/>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7172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losing Slide - In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7238" y="1220602"/>
            <a:ext cx="4745753" cy="1757336"/>
          </a:xfrm>
          <a:prstGeom prst="rect">
            <a:avLst/>
          </a:prstGeom>
        </p:spPr>
      </p:pic>
      <p:sp>
        <p:nvSpPr>
          <p:cNvPr id="13" name="Text Placeholder 13"/>
          <p:cNvSpPr>
            <a:spLocks noGrp="1"/>
          </p:cNvSpPr>
          <p:nvPr>
            <p:ph type="body" sz="quarter" idx="14" hasCustomPrompt="1"/>
          </p:nvPr>
        </p:nvSpPr>
        <p:spPr>
          <a:xfrm>
            <a:off x="273653" y="4818955"/>
            <a:ext cx="11672924" cy="1715195"/>
          </a:xfrm>
          <a:prstGeom prst="rect">
            <a:avLst/>
          </a:prstGeom>
        </p:spPr>
        <p:txBody>
          <a:bodyPr anchor="ctr" anchorCtr="0"/>
          <a:lstStyle>
            <a:lvl1pPr marL="0" indent="0" algn="ctr">
              <a:buNone/>
              <a:defRPr sz="280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Statement</a:t>
            </a:r>
          </a:p>
        </p:txBody>
      </p:sp>
      <p:sp>
        <p:nvSpPr>
          <p:cNvPr id="6" name="TextBox 5"/>
          <p:cNvSpPr txBox="1"/>
          <p:nvPr userDrawn="1"/>
        </p:nvSpPr>
        <p:spPr>
          <a:xfrm>
            <a:off x="9344025" y="6534150"/>
            <a:ext cx="2727029" cy="200055"/>
          </a:xfrm>
          <a:prstGeom prst="rect">
            <a:avLst/>
          </a:prstGeom>
          <a:noFill/>
        </p:spPr>
        <p:txBody>
          <a:bodyPr wrap="non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spTree>
    <p:extLst>
      <p:ext uri="{BB962C8B-B14F-4D97-AF65-F5344CB8AC3E}">
        <p14:creationId xmlns:p14="http://schemas.microsoft.com/office/powerpoint/2010/main" val="3672781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 Ex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Box 18"/>
          <p:cNvSpPr txBox="1"/>
          <p:nvPr userDrawn="1"/>
        </p:nvSpPr>
        <p:spPr>
          <a:xfrm>
            <a:off x="71375" y="4821614"/>
            <a:ext cx="3061516" cy="461665"/>
          </a:xfrm>
          <a:prstGeom prst="rect">
            <a:avLst/>
          </a:prstGeom>
          <a:noFill/>
        </p:spPr>
        <p:txBody>
          <a:bodyPr wrap="square" rtlCol="0">
            <a:spAutoFit/>
          </a:bodyPr>
          <a:lstStyle/>
          <a:p>
            <a:pPr algn="ctr"/>
            <a:r>
              <a:rPr lang="en-AU" sz="2400" b="1" dirty="0">
                <a:solidFill>
                  <a:schemeClr val="bg1"/>
                </a:solidFill>
                <a:latin typeface="Verdana" panose="020B0604030504040204" pitchFamily="34" charset="0"/>
                <a:ea typeface="Verdana" panose="020B0604030504040204" pitchFamily="34" charset="0"/>
                <a:cs typeface="Verdana" panose="020B0604030504040204" pitchFamily="34" charset="0"/>
              </a:rPr>
              <a:t>Find out more:</a:t>
            </a:r>
          </a:p>
        </p:txBody>
      </p:sp>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23842" y="5963999"/>
            <a:ext cx="268082" cy="350681"/>
          </a:xfrm>
          <a:prstGeom prst="rect">
            <a:avLst/>
          </a:prstGeom>
        </p:spPr>
      </p:pic>
      <p:pic>
        <p:nvPicPr>
          <p:cNvPr id="27" name="Picture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741" y="5963999"/>
            <a:ext cx="303833" cy="373742"/>
          </a:xfrm>
          <a:prstGeom prst="rect">
            <a:avLst/>
          </a:prstGeom>
        </p:spPr>
      </p:pic>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0741" y="5419185"/>
            <a:ext cx="360964" cy="373742"/>
          </a:xfrm>
          <a:prstGeom prst="rect">
            <a:avLst/>
          </a:prstGeom>
        </p:spPr>
      </p:pic>
      <p:sp>
        <p:nvSpPr>
          <p:cNvPr id="29" name="Text Placeholder 13"/>
          <p:cNvSpPr>
            <a:spLocks noGrp="1"/>
          </p:cNvSpPr>
          <p:nvPr>
            <p:ph type="body" sz="quarter" idx="10"/>
          </p:nvPr>
        </p:nvSpPr>
        <p:spPr>
          <a:xfrm>
            <a:off x="792782" y="5963511"/>
            <a:ext cx="2383425" cy="570639"/>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0" name="Text Placeholder 17"/>
          <p:cNvSpPr>
            <a:spLocks noGrp="1"/>
          </p:cNvSpPr>
          <p:nvPr>
            <p:ph type="body" sz="quarter" idx="12"/>
          </p:nvPr>
        </p:nvSpPr>
        <p:spPr>
          <a:xfrm>
            <a:off x="3968989" y="5973445"/>
            <a:ext cx="7949665" cy="560705"/>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1" name="Text Placeholder 13"/>
          <p:cNvSpPr>
            <a:spLocks noGrp="1"/>
          </p:cNvSpPr>
          <p:nvPr>
            <p:ph type="body" sz="quarter" idx="13"/>
          </p:nvPr>
        </p:nvSpPr>
        <p:spPr>
          <a:xfrm>
            <a:off x="792782" y="5428904"/>
            <a:ext cx="11125872" cy="358990"/>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14" name="Text Placeholder 13"/>
          <p:cNvSpPr>
            <a:spLocks noGrp="1"/>
          </p:cNvSpPr>
          <p:nvPr>
            <p:ph type="body" sz="quarter" idx="14" hasCustomPrompt="1"/>
          </p:nvPr>
        </p:nvSpPr>
        <p:spPr>
          <a:xfrm>
            <a:off x="0" y="3122149"/>
            <a:ext cx="12192000" cy="1083630"/>
          </a:xfrm>
          <a:prstGeom prst="rect">
            <a:avLst/>
          </a:prstGeom>
        </p:spPr>
        <p:txBody>
          <a:bodyPr anchor="ctr" anchorCtr="0"/>
          <a:lstStyle>
            <a:lvl1pPr marL="0" indent="0" algn="ctr">
              <a:buNone/>
              <a:defRPr sz="28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Text</a:t>
            </a:r>
          </a:p>
        </p:txBody>
      </p:sp>
      <p:sp>
        <p:nvSpPr>
          <p:cNvPr id="16" name="TextBox 15"/>
          <p:cNvSpPr txBox="1"/>
          <p:nvPr userDrawn="1"/>
        </p:nvSpPr>
        <p:spPr>
          <a:xfrm>
            <a:off x="9344025" y="6534150"/>
            <a:ext cx="2727029" cy="200055"/>
          </a:xfrm>
          <a:prstGeom prst="rect">
            <a:avLst/>
          </a:prstGeom>
          <a:noFill/>
        </p:spPr>
        <p:txBody>
          <a:bodyPr wrap="squar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723123" y="786215"/>
            <a:ext cx="4745753" cy="1835163"/>
          </a:xfrm>
          <a:prstGeom prst="rect">
            <a:avLst/>
          </a:prstGeom>
        </p:spPr>
      </p:pic>
    </p:spTree>
    <p:extLst>
      <p:ext uri="{BB962C8B-B14F-4D97-AF65-F5344CB8AC3E}">
        <p14:creationId xmlns:p14="http://schemas.microsoft.com/office/powerpoint/2010/main" val="35455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accent1"/>
                </a:solidFill>
                <a:latin typeface="+mj-lt"/>
              </a:defRPr>
            </a:lvl1pPr>
          </a:lstStyle>
          <a:p>
            <a:fld id="{897705DE-9461-4346-9D5D-B989155D24CE}" type="datetimeFigureOut">
              <a:rPr lang="en-AU" smtClean="0"/>
              <a:t>10/11/2025</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accent1"/>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A6177A87-3B7D-44CC-8271-C4C65D11800F}"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184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5000" b="0" i="1" kern="1200" baseline="0">
          <a:solidFill>
            <a:schemeClr val="accent1"/>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4010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txStyles>
    <p:titleStyle>
      <a:lvl1pPr algn="l" defTabSz="914400" rtl="0" eaLnBrk="1" latinLnBrk="0" hangingPunct="1">
        <a:lnSpc>
          <a:spcPct val="90000"/>
        </a:lnSpc>
        <a:spcBef>
          <a:spcPct val="0"/>
        </a:spcBef>
        <a:buNone/>
        <a:defRPr sz="4000" b="1" kern="1200">
          <a:solidFill>
            <a:srgbClr val="FDBA1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video" Target="https://www.youtube.com/embed/7TK1LpjV5bI?feature=oembed" TargetMode="External"/><Relationship Id="rId5" Type="http://schemas.openxmlformats.org/officeDocument/2006/relationships/image" Target="../media/image12.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3.xml"/><Relationship Id="rId1" Type="http://schemas.openxmlformats.org/officeDocument/2006/relationships/video" Target="https://www.youtube.com/embed/2K3GAaC2SEI?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qbi.uq.edu.au/article/2017/08/emotion-processing-region-produces-new-adult-brain-cell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3.xml"/><Relationship Id="rId1" Type="http://schemas.openxmlformats.org/officeDocument/2006/relationships/video" Target="https://www.youtube.com/embed/1BBESNonx1w?start=24&amp;feature=oembe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3.xml"/><Relationship Id="rId1" Type="http://schemas.openxmlformats.org/officeDocument/2006/relationships/video" Target="https://www.youtube.com/embed/E-uKYoPsGlY?feature=oembed"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video" Target="https://www.youtube.com/embed/yepwx67_UkM?feature=oembed" TargetMode="Externa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55450" y="2492428"/>
            <a:ext cx="10691284" cy="3048437"/>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7700" b="0" i="1" kern="1200" cap="all" baseline="0">
                <a:solidFill>
                  <a:schemeClr val="tx2"/>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AU" sz="9600" b="1" i="1" u="none" strike="noStrike" kern="1200" cap="all" spc="0" normalizeH="0" baseline="0" noProof="0" dirty="0">
                <a:ln>
                  <a:noFill/>
                </a:ln>
                <a:solidFill>
                  <a:srgbClr val="E9E5DC"/>
                </a:solidFill>
                <a:effectLst/>
                <a:uLnTx/>
                <a:uFillTx/>
                <a:latin typeface="Century Schoolbook" panose="02040604050505020304"/>
                <a:ea typeface="+mj-ea"/>
                <a:cs typeface="+mj-cs"/>
              </a:rPr>
              <a:t>Psychology</a:t>
            </a:r>
          </a:p>
        </p:txBody>
      </p:sp>
      <p:sp>
        <p:nvSpPr>
          <p:cNvPr id="5" name="Subtitle 2"/>
          <p:cNvSpPr txBox="1">
            <a:spLocks/>
          </p:cNvSpPr>
          <p:nvPr/>
        </p:nvSpPr>
        <p:spPr>
          <a:xfrm>
            <a:off x="962454" y="3663468"/>
            <a:ext cx="7034362" cy="706355"/>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0"/>
              </a:spcBef>
              <a:buFont typeface="Arial" panose="020B0604020202020204" pitchFamily="34" charset="0"/>
              <a:buNone/>
              <a:defRPr sz="2000" b="0" i="1" kern="1200" baseline="0">
                <a:solidFill>
                  <a:schemeClr val="tx2"/>
                </a:solidFill>
                <a:latin typeface="+mn-lt"/>
                <a:ea typeface="+mn-ea"/>
                <a:cs typeface="+mn-cs"/>
              </a:defRPr>
            </a:lvl1pPr>
            <a:lvl2pPr marL="457200" indent="0" algn="ctr" defTabSz="914400" rtl="0" eaLnBrk="1" latinLnBrk="0" hangingPunct="1">
              <a:lnSpc>
                <a:spcPct val="112000"/>
              </a:lnSpc>
              <a:spcBef>
                <a:spcPts val="900"/>
              </a:spcBef>
              <a:buFont typeface="Corbel" panose="020B0503020204020204" pitchFamily="34" charset="0"/>
              <a:buNone/>
              <a:defRPr sz="2000" kern="1200" baseline="0">
                <a:solidFill>
                  <a:schemeClr val="tx1">
                    <a:lumMod val="85000"/>
                    <a:lumOff val="15000"/>
                  </a:schemeClr>
                </a:solidFill>
                <a:latin typeface="+mn-lt"/>
                <a:ea typeface="+mn-ea"/>
                <a:cs typeface="+mn-cs"/>
              </a:defRPr>
            </a:lvl2pPr>
            <a:lvl3pPr marL="914400" indent="0" algn="ctr" defTabSz="914400" rtl="0" eaLnBrk="1" latinLnBrk="0" hangingPunct="1">
              <a:lnSpc>
                <a:spcPct val="112000"/>
              </a:lnSpc>
              <a:spcBef>
                <a:spcPts val="900"/>
              </a:spcBef>
              <a:buFont typeface="Arial" panose="020B0604020202020204" pitchFamily="34" charset="0"/>
              <a:buNone/>
              <a:defRPr sz="1800" kern="1200" baseline="0">
                <a:solidFill>
                  <a:schemeClr val="tx1">
                    <a:lumMod val="85000"/>
                    <a:lumOff val="15000"/>
                  </a:schemeClr>
                </a:solidFill>
                <a:latin typeface="+mn-lt"/>
                <a:ea typeface="+mn-ea"/>
                <a:cs typeface="+mn-cs"/>
              </a:defRPr>
            </a:lvl3pPr>
            <a:lvl4pPr marL="1371600" indent="0" algn="ctr" defTabSz="914400" rtl="0" eaLnBrk="1" latinLnBrk="0" hangingPunct="1">
              <a:lnSpc>
                <a:spcPct val="112000"/>
              </a:lnSpc>
              <a:spcBef>
                <a:spcPts val="900"/>
              </a:spcBef>
              <a:buFont typeface="Corbel" panose="020B0503020204020204" pitchFamily="34" charset="0"/>
              <a:buNone/>
              <a:defRPr sz="1600" kern="1200" baseline="0">
                <a:solidFill>
                  <a:schemeClr val="tx1">
                    <a:lumMod val="85000"/>
                    <a:lumOff val="15000"/>
                  </a:schemeClr>
                </a:solidFill>
                <a:latin typeface="+mn-lt"/>
                <a:ea typeface="+mn-ea"/>
                <a:cs typeface="+mn-cs"/>
              </a:defRPr>
            </a:lvl4pPr>
            <a:lvl5pPr marL="1828800" indent="0" algn="ctr" defTabSz="914400" rtl="0" eaLnBrk="1" latinLnBrk="0" hangingPunct="1">
              <a:lnSpc>
                <a:spcPct val="112000"/>
              </a:lnSpc>
              <a:spcBef>
                <a:spcPts val="900"/>
              </a:spcBef>
              <a:buFont typeface="Arial" panose="020B0604020202020204" pitchFamily="34" charset="0"/>
              <a:buNone/>
              <a:defRPr sz="1600" i="1" kern="1200" baseline="0">
                <a:solidFill>
                  <a:schemeClr val="tx1">
                    <a:lumMod val="85000"/>
                    <a:lumOff val="15000"/>
                  </a:schemeClr>
                </a:solidFill>
                <a:latin typeface="+mn-lt"/>
                <a:ea typeface="+mn-ea"/>
                <a:cs typeface="+mn-cs"/>
              </a:defRPr>
            </a:lvl5pPr>
            <a:lvl6pPr marL="22860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6pPr>
            <a:lvl7pPr marL="2743200" indent="0" algn="ctr" defTabSz="914400" rtl="0" eaLnBrk="1" latinLnBrk="0" hangingPunct="1">
              <a:lnSpc>
                <a:spcPct val="112000"/>
              </a:lnSpc>
              <a:spcBef>
                <a:spcPts val="1300"/>
              </a:spcBef>
              <a:buFont typeface="Arial" panose="020B0604020202020204" pitchFamily="34" charset="0"/>
              <a:buNone/>
              <a:defRPr sz="1600" i="1" kern="1200">
                <a:solidFill>
                  <a:schemeClr val="tx1">
                    <a:lumMod val="85000"/>
                    <a:lumOff val="15000"/>
                  </a:schemeClr>
                </a:solidFill>
                <a:latin typeface="+mn-lt"/>
                <a:ea typeface="+mn-ea"/>
                <a:cs typeface="+mn-cs"/>
              </a:defRPr>
            </a:lvl7pPr>
            <a:lvl8pPr marL="32004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8pPr>
            <a:lvl9pPr marL="3657600" indent="0" algn="ctr" defTabSz="914400" rtl="0" eaLnBrk="1" latinLnBrk="0" hangingPunct="1">
              <a:lnSpc>
                <a:spcPct val="112000"/>
              </a:lnSpc>
              <a:spcBef>
                <a:spcPts val="1300"/>
              </a:spcBef>
              <a:buFont typeface="Arial" panose="020B0604020202020204" pitchFamily="34" charset="0"/>
              <a:buNone/>
              <a:defRPr sz="1600" i="1" kern="1200" baseline="0">
                <a:solidFill>
                  <a:schemeClr val="tx1">
                    <a:lumMod val="85000"/>
                    <a:lumOff val="15000"/>
                  </a:schemeClr>
                </a:solidFill>
                <a:latin typeface="+mn-lt"/>
                <a:ea typeface="+mn-ea"/>
                <a:cs typeface="+mn-cs"/>
              </a:defRPr>
            </a:lvl9pPr>
          </a:lstStyle>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lang="en-AU" sz="4000" dirty="0">
                <a:solidFill>
                  <a:srgbClr val="E9E5DC"/>
                </a:solidFill>
                <a:latin typeface="Corbel" panose="020B0503020204020204"/>
              </a:rPr>
              <a:t>3</a:t>
            </a:r>
            <a:r>
              <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rPr>
              <a:t>.3 Memory</a:t>
            </a: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95309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a:spLocks noGrp="1"/>
          </p:cNvSpPr>
          <p:nvPr>
            <p:ph type="body" idx="1"/>
          </p:nvPr>
        </p:nvSpPr>
        <p:spPr>
          <a:xfrm>
            <a:off x="398834" y="2638890"/>
            <a:ext cx="10905436" cy="819150"/>
          </a:xfrm>
        </p:spPr>
        <p:txBody>
          <a:bodyPr>
            <a:noAutofit/>
          </a:bodyPr>
          <a:lstStyle/>
          <a:p>
            <a:pPr algn="l"/>
            <a:r>
              <a:rPr lang="en-AU" sz="7200" b="1" dirty="0">
                <a:latin typeface="+mj-lt"/>
              </a:rPr>
              <a:t>Brain Structures and Memory </a:t>
            </a:r>
          </a:p>
        </p:txBody>
      </p:sp>
    </p:spTree>
    <p:extLst>
      <p:ext uri="{BB962C8B-B14F-4D97-AF65-F5344CB8AC3E}">
        <p14:creationId xmlns:p14="http://schemas.microsoft.com/office/powerpoint/2010/main" val="3773835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p:cNvPicPr>
            <a:picLocks noChangeAspect="1"/>
          </p:cNvPicPr>
          <p:nvPr/>
        </p:nvPicPr>
        <p:blipFill>
          <a:blip r:embed="rId2"/>
          <a:stretch>
            <a:fillRect/>
          </a:stretch>
        </p:blipFill>
        <p:spPr>
          <a:xfrm>
            <a:off x="0" y="0"/>
            <a:ext cx="4202253" cy="6858000"/>
          </a:xfrm>
          <a:prstGeom prst="rect">
            <a:avLst/>
          </a:prstGeom>
        </p:spPr>
      </p:pic>
      <p:sp>
        <p:nvSpPr>
          <p:cNvPr id="9" name="Text Placeholder 4"/>
          <p:cNvSpPr txBox="1">
            <a:spLocks/>
          </p:cNvSpPr>
          <p:nvPr/>
        </p:nvSpPr>
        <p:spPr>
          <a:xfrm>
            <a:off x="4202253" y="1473524"/>
            <a:ext cx="7989747" cy="5004409"/>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l" defTabSz="914400" rtl="0" eaLnBrk="1" fontAlgn="auto" latinLnBrk="0" hangingPunct="1">
              <a:lnSpc>
                <a:spcPct val="113000"/>
              </a:lnSpc>
              <a:spcBef>
                <a:spcPts val="0"/>
              </a:spcBef>
              <a:spcAft>
                <a:spcPts val="0"/>
              </a:spcAft>
              <a:buClr>
                <a:srgbClr val="D34817"/>
              </a:buClr>
              <a:buSzTx/>
              <a:buFont typeface="Arial" panose="020B0604020202020204" pitchFamily="34" charset="0"/>
              <a:buNone/>
              <a:tabLst/>
              <a:defRPr/>
            </a:pPr>
            <a:endParaRPr kumimoji="0" lang="en-AU" sz="12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lvl="0" indent="-457200" algn="l">
              <a:buClr>
                <a:srgbClr val="D34817"/>
              </a:buClr>
              <a:buFont typeface="Wingdings" panose="05000000000000000000" pitchFamily="2" charset="2"/>
              <a:buChar char="§"/>
              <a:defRPr/>
            </a:pPr>
            <a:r>
              <a:rPr lang="en-AU" sz="2800" dirty="0">
                <a:highlight>
                  <a:srgbClr val="FFFF00"/>
                </a:highlight>
              </a:rPr>
              <a:t>Describe the role of the hippocampus, the neo-cortex and the amygdala in forming and storing explicit memories.</a:t>
            </a:r>
          </a:p>
          <a:p>
            <a:pPr marL="457200" lvl="0" indent="-457200" algn="l">
              <a:buClr>
                <a:srgbClr val="D34817"/>
              </a:buClr>
              <a:buFont typeface="Wingdings" panose="05000000000000000000" pitchFamily="2" charset="2"/>
              <a:buChar char="§"/>
              <a:defRPr/>
            </a:pPr>
            <a:r>
              <a:rPr lang="en-AU" sz="2800" dirty="0"/>
              <a:t>Describe the role of the cerebellum in forming implicit memories.</a:t>
            </a:r>
            <a:endParaRPr kumimoji="0" lang="en-AU" sz="2600" b="0" i="0" u="none" strike="noStrike" kern="1200" cap="none" spc="0" normalizeH="0" baseline="0" noProof="0" dirty="0">
              <a:ln>
                <a:noFill/>
              </a:ln>
              <a:solidFill>
                <a:schemeClr val="tx1"/>
              </a:solidFill>
              <a:effectLst/>
              <a:uLnTx/>
              <a:uFillTx/>
              <a:latin typeface="Corbel" panose="020B0503020204020204"/>
              <a:ea typeface="+mn-ea"/>
              <a:cs typeface="+mn-cs"/>
            </a:endParaRPr>
          </a:p>
          <a:p>
            <a:pPr marL="457200" marR="0" lvl="0" indent="-457200" algn="l" defTabSz="914400" rtl="0" eaLnBrk="1" fontAlgn="auto" latinLnBrk="0" hangingPunct="1">
              <a:lnSpc>
                <a:spcPct val="113000"/>
              </a:lnSpc>
              <a:spcBef>
                <a:spcPts val="0"/>
              </a:spcBef>
              <a:spcAft>
                <a:spcPts val="0"/>
              </a:spcAft>
              <a:buClr>
                <a:srgbClr val="D34817"/>
              </a:buClr>
              <a:buSzTx/>
              <a:buFont typeface="Wingdings" panose="05000000000000000000" pitchFamily="2" charset="2"/>
              <a:buChar char="§"/>
              <a:tabLst/>
              <a:defRPr/>
            </a:pPr>
            <a:endParaRPr kumimoji="0" lang="en-AU" sz="2600" b="0" i="0" u="none" strike="noStrike" kern="1200" cap="none" spc="0" normalizeH="0" baseline="0" noProof="0" dirty="0">
              <a:ln>
                <a:noFill/>
              </a:ln>
              <a:solidFill>
                <a:schemeClr val="tx1"/>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4875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85573" y="3972107"/>
            <a:ext cx="11220853" cy="2780790"/>
          </a:xfrm>
        </p:spPr>
        <p:txBody>
          <a:bodyPr>
            <a:noAutofit/>
          </a:bodyPr>
          <a:lstStyle/>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Very difficult to find specific locations of memories, thoughts, ideas or events</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However, there is some understanding of the brain structures that play a role in memory formation</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These include the:</a:t>
            </a:r>
          </a:p>
          <a:p>
            <a:pPr marL="971550" lvl="1" indent="-514350">
              <a:lnSpc>
                <a:spcPct val="100000"/>
              </a:lnSpc>
              <a:spcBef>
                <a:spcPts val="0"/>
              </a:spcBef>
              <a:buClr>
                <a:schemeClr val="accent1"/>
              </a:buClr>
              <a:buFont typeface="Courier New" panose="02070309020205020404" pitchFamily="49" charset="0"/>
              <a:buChar char="o"/>
            </a:pPr>
            <a:r>
              <a:rPr lang="en-AU" sz="2700" i="0" dirty="0">
                <a:solidFill>
                  <a:schemeClr val="tx1"/>
                </a:solidFill>
              </a:rPr>
              <a:t>Hippocampus - Declarative</a:t>
            </a:r>
          </a:p>
          <a:p>
            <a:pPr marL="971550" lvl="1" indent="-514350">
              <a:lnSpc>
                <a:spcPct val="100000"/>
              </a:lnSpc>
              <a:spcBef>
                <a:spcPts val="0"/>
              </a:spcBef>
              <a:buClr>
                <a:schemeClr val="accent1"/>
              </a:buClr>
              <a:buFont typeface="Courier New" panose="02070309020205020404" pitchFamily="49" charset="0"/>
              <a:buChar char="o"/>
            </a:pPr>
            <a:r>
              <a:rPr lang="en-AU" sz="2700" i="0" dirty="0">
                <a:solidFill>
                  <a:schemeClr val="tx1"/>
                </a:solidFill>
              </a:rPr>
              <a:t>Cerebral cortex – Short term / declarative</a:t>
            </a:r>
          </a:p>
          <a:p>
            <a:pPr marL="971550" lvl="1" indent="-514350">
              <a:lnSpc>
                <a:spcPct val="100000"/>
              </a:lnSpc>
              <a:spcBef>
                <a:spcPts val="0"/>
              </a:spcBef>
              <a:buClr>
                <a:schemeClr val="accent1"/>
              </a:buClr>
              <a:buFont typeface="Courier New" panose="02070309020205020404" pitchFamily="49" charset="0"/>
              <a:buChar char="o"/>
            </a:pPr>
            <a:r>
              <a:rPr lang="en-AU" sz="2700" i="0" dirty="0">
                <a:solidFill>
                  <a:schemeClr val="tx1"/>
                </a:solidFill>
              </a:rPr>
              <a:t>Cerebellum – Procedural / implicit</a:t>
            </a:r>
          </a:p>
          <a:p>
            <a:pPr marL="971550" lvl="1" indent="-514350">
              <a:lnSpc>
                <a:spcPct val="100000"/>
              </a:lnSpc>
              <a:spcBef>
                <a:spcPts val="0"/>
              </a:spcBef>
              <a:buClr>
                <a:schemeClr val="accent1"/>
              </a:buClr>
              <a:buFont typeface="Courier New" panose="02070309020205020404" pitchFamily="49" charset="0"/>
              <a:buChar char="o"/>
            </a:pPr>
            <a:r>
              <a:rPr lang="en-AU" sz="2700" i="0" dirty="0">
                <a:solidFill>
                  <a:schemeClr val="tx1"/>
                </a:solidFill>
              </a:rPr>
              <a:t>Amygdala – explicit </a:t>
            </a:r>
          </a:p>
          <a:p>
            <a:pPr marL="971550" lvl="1" indent="-514350">
              <a:lnSpc>
                <a:spcPct val="100000"/>
              </a:lnSpc>
              <a:spcBef>
                <a:spcPts val="0"/>
              </a:spcBef>
              <a:buClr>
                <a:schemeClr val="accent1"/>
              </a:buClr>
              <a:buFont typeface="Courier New" panose="02070309020205020404" pitchFamily="49" charset="0"/>
              <a:buChar char="o"/>
            </a:pPr>
            <a:r>
              <a:rPr lang="en-AU" sz="2700" i="0" dirty="0">
                <a:solidFill>
                  <a:schemeClr val="tx1"/>
                </a:solidFill>
              </a:rPr>
              <a:t>Basal ganglia – procedural </a:t>
            </a:r>
            <a:endParaRPr lang="en-AU" sz="270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Brain Structures and Memory</a:t>
            </a:r>
          </a:p>
        </p:txBody>
      </p:sp>
    </p:spTree>
    <p:extLst>
      <p:ext uri="{BB962C8B-B14F-4D97-AF65-F5344CB8AC3E}">
        <p14:creationId xmlns:p14="http://schemas.microsoft.com/office/powerpoint/2010/main" val="362043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16AA75-D6F6-4BDC-8C57-6D47E5398DD7}"/>
              </a:ext>
            </a:extLst>
          </p:cNvPr>
          <p:cNvPicPr>
            <a:picLocks noChangeAspect="1"/>
          </p:cNvPicPr>
          <p:nvPr/>
        </p:nvPicPr>
        <p:blipFill>
          <a:blip r:embed="rId2"/>
          <a:stretch>
            <a:fillRect/>
          </a:stretch>
        </p:blipFill>
        <p:spPr>
          <a:xfrm>
            <a:off x="0" y="0"/>
            <a:ext cx="12192000" cy="6846780"/>
          </a:xfrm>
          <a:prstGeom prst="rect">
            <a:avLst/>
          </a:prstGeom>
        </p:spPr>
      </p:pic>
    </p:spTree>
    <p:extLst>
      <p:ext uri="{BB962C8B-B14F-4D97-AF65-F5344CB8AC3E}">
        <p14:creationId xmlns:p14="http://schemas.microsoft.com/office/powerpoint/2010/main" val="241478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08341" y="1077477"/>
            <a:ext cx="11775313" cy="1332169"/>
          </a:xfrm>
        </p:spPr>
        <p:txBody>
          <a:bodyPr>
            <a:noAutofit/>
          </a:bodyPr>
          <a:lstStyle/>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The Cortex houses a number of different structures that are linked to the formation and storage of procedural memories</a:t>
            </a: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Role of the Cerebral Cortex</a:t>
            </a:r>
          </a:p>
        </p:txBody>
      </p:sp>
      <p:pic>
        <p:nvPicPr>
          <p:cNvPr id="4" name="Picture 3">
            <a:extLst>
              <a:ext uri="{FF2B5EF4-FFF2-40B4-BE49-F238E27FC236}">
                <a16:creationId xmlns:a16="http://schemas.microsoft.com/office/drawing/2014/main" id="{AD754A69-9145-4740-92F7-E4435FAD67E5}"/>
              </a:ext>
            </a:extLst>
          </p:cNvPr>
          <p:cNvPicPr>
            <a:picLocks noChangeAspect="1"/>
          </p:cNvPicPr>
          <p:nvPr/>
        </p:nvPicPr>
        <p:blipFill>
          <a:blip r:embed="rId4"/>
          <a:stretch>
            <a:fillRect/>
          </a:stretch>
        </p:blipFill>
        <p:spPr>
          <a:xfrm>
            <a:off x="52305" y="2562870"/>
            <a:ext cx="4740800" cy="3849697"/>
          </a:xfrm>
          <a:prstGeom prst="rect">
            <a:avLst/>
          </a:prstGeom>
        </p:spPr>
      </p:pic>
      <p:pic>
        <p:nvPicPr>
          <p:cNvPr id="2" name="Online Media 1" title="2-Minute Neuroscience: Cerebral Cortex">
            <a:hlinkClick r:id="" action="ppaction://media"/>
            <a:extLst>
              <a:ext uri="{FF2B5EF4-FFF2-40B4-BE49-F238E27FC236}">
                <a16:creationId xmlns:a16="http://schemas.microsoft.com/office/drawing/2014/main" id="{ED2570DA-6A3C-0F84-EEBC-C9B126626E00}"/>
              </a:ext>
            </a:extLst>
          </p:cNvPr>
          <p:cNvPicPr>
            <a:picLocks noRot="1" noChangeAspect="1"/>
          </p:cNvPicPr>
          <p:nvPr>
            <a:videoFile r:link="rId1"/>
          </p:nvPr>
        </p:nvPicPr>
        <p:blipFill>
          <a:blip r:embed="rId5"/>
          <a:stretch>
            <a:fillRect/>
          </a:stretch>
        </p:blipFill>
        <p:spPr>
          <a:xfrm>
            <a:off x="4890055" y="2443135"/>
            <a:ext cx="7301945" cy="4125599"/>
          </a:xfrm>
          <a:prstGeom prst="rect">
            <a:avLst/>
          </a:prstGeom>
        </p:spPr>
      </p:pic>
    </p:spTree>
    <p:extLst>
      <p:ext uri="{BB962C8B-B14F-4D97-AF65-F5344CB8AC3E}">
        <p14:creationId xmlns:p14="http://schemas.microsoft.com/office/powerpoint/2010/main" val="160125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85573" y="1141544"/>
            <a:ext cx="6998529" cy="4770023"/>
          </a:xfrm>
        </p:spPr>
        <p:txBody>
          <a:bodyPr>
            <a:noAutofit/>
          </a:bodyPr>
          <a:lstStyle/>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Tiny structure with two halves – one in each hemisphere</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Positioned in the medial temporal lobe</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Generally larger in women</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Connected to the frontal lobe, thalamus and amygdala</a:t>
            </a:r>
          </a:p>
          <a:p>
            <a:pPr marL="457200" indent="-457200" algn="l">
              <a:lnSpc>
                <a:spcPct val="100000"/>
              </a:lnSpc>
              <a:buClr>
                <a:schemeClr val="accent1"/>
              </a:buClr>
              <a:buFont typeface="Wingdings" panose="05000000000000000000" pitchFamily="2" charset="2"/>
              <a:buChar char="§"/>
            </a:pPr>
            <a:r>
              <a:rPr lang="en-AU" sz="2700" i="0" dirty="0">
                <a:solidFill>
                  <a:schemeClr val="tx1"/>
                </a:solidFill>
              </a:rPr>
              <a:t>Part of the limbic system (emotions, learning and memory)</a:t>
            </a: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Hippocampus</a:t>
            </a:r>
          </a:p>
        </p:txBody>
      </p:sp>
      <p:pic>
        <p:nvPicPr>
          <p:cNvPr id="1026" name="Picture 2">
            <a:extLst>
              <a:ext uri="{FF2B5EF4-FFF2-40B4-BE49-F238E27FC236}">
                <a16:creationId xmlns:a16="http://schemas.microsoft.com/office/drawing/2014/main" id="{62C9DC82-3E31-1057-60CF-8D29295D0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8478" y="1523575"/>
            <a:ext cx="4665939" cy="3972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895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80470" y="4142548"/>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hippocampus helps to provide meaning to new information by providing context to it </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i.e. location, situation, places etc.</a:t>
            </a:r>
          </a:p>
          <a:p>
            <a:pPr marL="914400" lvl="1" indent="-457200">
              <a:lnSpc>
                <a:spcPct val="100000"/>
              </a:lnSpc>
              <a:buClr>
                <a:schemeClr val="accent1"/>
              </a:buClr>
              <a:buFont typeface="Courier New" panose="02070309020205020404" pitchFamily="49" charset="0"/>
              <a:buChar char="o"/>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Plays a role in the encoding and temporary storage of declarative memories </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After context has been applied, these memories are then transferred to long term storage in other regions of the cortex</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hippocampus also has the ability to produce new cells allowing for learning and greater memory formation</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Particularly important during declarative (semantic) memory formation such as a child learning new words</a:t>
            </a: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Hippocampus and Memory</a:t>
            </a:r>
          </a:p>
        </p:txBody>
      </p:sp>
    </p:spTree>
    <p:extLst>
      <p:ext uri="{BB962C8B-B14F-4D97-AF65-F5344CB8AC3E}">
        <p14:creationId xmlns:p14="http://schemas.microsoft.com/office/powerpoint/2010/main" val="895829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040716-61F2-4F75-81EF-A0EF69184703}"/>
              </a:ext>
            </a:extLst>
          </p:cNvPr>
          <p:cNvPicPr>
            <a:picLocks noChangeAspect="1"/>
          </p:cNvPicPr>
          <p:nvPr/>
        </p:nvPicPr>
        <p:blipFill>
          <a:blip r:embed="rId3"/>
          <a:stretch>
            <a:fillRect/>
          </a:stretch>
        </p:blipFill>
        <p:spPr>
          <a:xfrm>
            <a:off x="2196662" y="-36638"/>
            <a:ext cx="7977352" cy="6894638"/>
          </a:xfrm>
          <a:prstGeom prst="rect">
            <a:avLst/>
          </a:prstGeom>
        </p:spPr>
      </p:pic>
    </p:spTree>
    <p:extLst>
      <p:ext uri="{BB962C8B-B14F-4D97-AF65-F5344CB8AC3E}">
        <p14:creationId xmlns:p14="http://schemas.microsoft.com/office/powerpoint/2010/main" val="1535365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85572" y="4342244"/>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Consolidation is the process by which the brain takes a new memory, then encodes and transfers it to permanent long-term storage</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Research has shown that the hippocampus plays a role in the consolidation process</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This has been shown via neuroimaging techniques as well as by experimental procedures on rats where the hippocampus has been disabled or impacted in some way and memory subsequently tested</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hippocampus is responsible in both the consolidation (moving info from STM to LTM) of new declarative memories and their retrieval</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Research also suggests that the hippocampus is reasonably active during slow-wave sleep when the rest of the brain is less active and when memories are theorised to be processed – i.e. consolidation continues to happen whilst asleep</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9459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Hippocampus and Consolidation</a:t>
            </a:r>
          </a:p>
        </p:txBody>
      </p:sp>
    </p:spTree>
    <p:extLst>
      <p:ext uri="{BB962C8B-B14F-4D97-AF65-F5344CB8AC3E}">
        <p14:creationId xmlns:p14="http://schemas.microsoft.com/office/powerpoint/2010/main" val="3824067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1A6369-4C4B-47F2-B857-B69802740F99}"/>
              </a:ext>
            </a:extLst>
          </p:cNvPr>
          <p:cNvPicPr>
            <a:picLocks noChangeAspect="1"/>
          </p:cNvPicPr>
          <p:nvPr/>
        </p:nvPicPr>
        <p:blipFill>
          <a:blip r:embed="rId3"/>
          <a:stretch>
            <a:fillRect/>
          </a:stretch>
        </p:blipFill>
        <p:spPr>
          <a:xfrm>
            <a:off x="1954924" y="0"/>
            <a:ext cx="8156028" cy="6857999"/>
          </a:xfrm>
          <a:prstGeom prst="rect">
            <a:avLst/>
          </a:prstGeom>
        </p:spPr>
      </p:pic>
    </p:spTree>
    <p:extLst>
      <p:ext uri="{BB962C8B-B14F-4D97-AF65-F5344CB8AC3E}">
        <p14:creationId xmlns:p14="http://schemas.microsoft.com/office/powerpoint/2010/main" val="3114766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80470" y="4373775"/>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Remember – The role of the amygdala</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hippocampus has a direct connection to the amygdala</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This connection allows for links to be made between memories and emotions and emotions and memories</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i.e. emotions that are elicited from particular memories and memories that are triggered by particular emotions</a:t>
            </a:r>
          </a:p>
          <a:p>
            <a:pPr marL="914400" lvl="1" indent="-457200">
              <a:lnSpc>
                <a:spcPct val="100000"/>
              </a:lnSpc>
              <a:buClr>
                <a:schemeClr val="accent1"/>
              </a:buClr>
              <a:buFont typeface="Courier New" panose="02070309020205020404" pitchFamily="49" charset="0"/>
              <a:buChar char="o"/>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amygdala is essential for implicit memory formation</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Helps activate the hippocampus for consolidation of memories with emotional content (e.g. winning a competition)</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Emotion and Memory</a:t>
            </a:r>
          </a:p>
        </p:txBody>
      </p:sp>
    </p:spTree>
    <p:extLst>
      <p:ext uri="{BB962C8B-B14F-4D97-AF65-F5344CB8AC3E}">
        <p14:creationId xmlns:p14="http://schemas.microsoft.com/office/powerpoint/2010/main" val="4087794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80470" y="4373775"/>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As has been demonstrated by studies, damage to the hippocampus can disrupt memory formation and retrieval </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But hippocampus function can be impacted by many things including</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Stress (if prolonged over time = shrinkage)</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Anxiety</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Depression</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PTSD</a:t>
            </a: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Health conditions / disease  -Alzheimer’s, </a:t>
            </a:r>
            <a:r>
              <a:rPr lang="en-AU" sz="2400" i="0" dirty="0" err="1">
                <a:solidFill>
                  <a:schemeClr val="tx1"/>
                </a:solidFill>
              </a:rPr>
              <a:t>demetia</a:t>
            </a:r>
            <a:endParaRPr lang="en-AU" sz="2400" i="0" dirty="0">
              <a:solidFill>
                <a:schemeClr val="tx1"/>
              </a:solidFill>
            </a:endParaRPr>
          </a:p>
          <a:p>
            <a:pPr marL="914400" lvl="1" indent="-457200">
              <a:lnSpc>
                <a:spcPct val="100000"/>
              </a:lnSpc>
              <a:buClr>
                <a:schemeClr val="accent1"/>
              </a:buClr>
              <a:buFont typeface="Courier New" panose="02070309020205020404" pitchFamily="49" charset="0"/>
              <a:buChar char="o"/>
            </a:pPr>
            <a:r>
              <a:rPr lang="en-AU" sz="2400" i="0" dirty="0">
                <a:solidFill>
                  <a:schemeClr val="tx1"/>
                </a:solidFill>
              </a:rPr>
              <a:t>Viruses (herpes, encephalitis)</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Damage to the Hippocampus</a:t>
            </a:r>
          </a:p>
        </p:txBody>
      </p:sp>
    </p:spTree>
    <p:extLst>
      <p:ext uri="{BB962C8B-B14F-4D97-AF65-F5344CB8AC3E}">
        <p14:creationId xmlns:p14="http://schemas.microsoft.com/office/powerpoint/2010/main" val="1329788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B5DD98-FFC8-E4C1-B834-7E5E3D84A3C6}"/>
              </a:ext>
            </a:extLst>
          </p:cNvPr>
          <p:cNvSpPr>
            <a:spLocks noGrp="1"/>
          </p:cNvSpPr>
          <p:nvPr>
            <p:ph type="body" idx="1"/>
          </p:nvPr>
        </p:nvSpPr>
        <p:spPr>
          <a:xfrm>
            <a:off x="1516681" y="82056"/>
            <a:ext cx="8401429" cy="819150"/>
          </a:xfrm>
        </p:spPr>
        <p:txBody>
          <a:bodyPr>
            <a:normAutofit/>
          </a:bodyPr>
          <a:lstStyle/>
          <a:p>
            <a:pPr algn="l"/>
            <a:r>
              <a:rPr lang="en-AU" sz="3600" dirty="0"/>
              <a:t>Extension video </a:t>
            </a:r>
          </a:p>
        </p:txBody>
      </p:sp>
      <p:pic>
        <p:nvPicPr>
          <p:cNvPr id="4" name="Online Media 3" title="Memory and the Hippocampus">
            <a:hlinkClick r:id="" action="ppaction://media"/>
            <a:extLst>
              <a:ext uri="{FF2B5EF4-FFF2-40B4-BE49-F238E27FC236}">
                <a16:creationId xmlns:a16="http://schemas.microsoft.com/office/drawing/2014/main" id="{2029AE64-F1FE-6944-B1A2-43F053A993A9}"/>
              </a:ext>
            </a:extLst>
          </p:cNvPr>
          <p:cNvPicPr>
            <a:picLocks noRot="1" noChangeAspect="1"/>
          </p:cNvPicPr>
          <p:nvPr>
            <a:videoFile r:link="rId1"/>
          </p:nvPr>
        </p:nvPicPr>
        <p:blipFill>
          <a:blip r:embed="rId3"/>
          <a:stretch>
            <a:fillRect/>
          </a:stretch>
        </p:blipFill>
        <p:spPr>
          <a:xfrm>
            <a:off x="987203" y="901206"/>
            <a:ext cx="10323402" cy="5832722"/>
          </a:xfrm>
          <a:prstGeom prst="rect">
            <a:avLst/>
          </a:prstGeom>
        </p:spPr>
      </p:pic>
    </p:spTree>
    <p:extLst>
      <p:ext uri="{BB962C8B-B14F-4D97-AF65-F5344CB8AC3E}">
        <p14:creationId xmlns:p14="http://schemas.microsoft.com/office/powerpoint/2010/main" val="412579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D3C92-10C7-0F9D-A926-31C027F4DE44}"/>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5F14B95E-DC9D-F00B-0207-C3DEEB02D1FC}"/>
              </a:ext>
            </a:extLst>
          </p:cNvPr>
          <p:cNvSpPr txBox="1">
            <a:spLocks/>
          </p:cNvSpPr>
          <p:nvPr/>
        </p:nvSpPr>
        <p:spPr>
          <a:xfrm>
            <a:off x="180547" y="133957"/>
            <a:ext cx="4525407"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l"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neo-cortex</a:t>
            </a:r>
          </a:p>
        </p:txBody>
      </p:sp>
      <p:sp>
        <p:nvSpPr>
          <p:cNvPr id="3" name="Text Placeholder 2">
            <a:extLst>
              <a:ext uri="{FF2B5EF4-FFF2-40B4-BE49-F238E27FC236}">
                <a16:creationId xmlns:a16="http://schemas.microsoft.com/office/drawing/2014/main" id="{B5BD1F09-A0C6-252A-BCA9-A2B9A7D156B3}"/>
              </a:ext>
            </a:extLst>
          </p:cNvPr>
          <p:cNvSpPr>
            <a:spLocks noGrp="1"/>
          </p:cNvSpPr>
          <p:nvPr>
            <p:ph type="body" idx="1"/>
          </p:nvPr>
        </p:nvSpPr>
        <p:spPr>
          <a:xfrm>
            <a:off x="4874859" y="431973"/>
            <a:ext cx="7317141" cy="5718385"/>
          </a:xfrm>
        </p:spPr>
        <p:txBody>
          <a:bodyPr>
            <a:normAutofit/>
          </a:bodyPr>
          <a:lstStyle/>
          <a:p>
            <a:pPr marL="342900" indent="-342900" algn="l">
              <a:buFont typeface="Arial" panose="020B0604020202020204" pitchFamily="34" charset="0"/>
              <a:buChar char="•"/>
            </a:pPr>
            <a:r>
              <a:rPr lang="en-AU" i="0" dirty="0">
                <a:solidFill>
                  <a:schemeClr val="tx1"/>
                </a:solidFill>
              </a:rPr>
              <a:t>Plays a role in memory formation and retrieval</a:t>
            </a:r>
          </a:p>
          <a:p>
            <a:pPr marL="342900" indent="-342900" algn="l">
              <a:buFont typeface="Arial" panose="020B0604020202020204" pitchFamily="34" charset="0"/>
              <a:buChar char="•"/>
            </a:pPr>
            <a:r>
              <a:rPr lang="en-GB" i="0" dirty="0">
                <a:solidFill>
                  <a:schemeClr val="tx1"/>
                </a:solidFill>
              </a:rPr>
              <a:t>Largest part of the cerebral cortex</a:t>
            </a:r>
          </a:p>
          <a:p>
            <a:pPr marL="800100" lvl="1" indent="-342900">
              <a:buFont typeface="Arial" panose="020B0604020202020204" pitchFamily="34" charset="0"/>
              <a:buChar char="•"/>
            </a:pPr>
            <a:r>
              <a:rPr lang="en-GB" i="0" dirty="0">
                <a:solidFill>
                  <a:schemeClr val="tx1"/>
                </a:solidFill>
              </a:rPr>
              <a:t>The sheet of neural tissue that forms the outside surface of the brain</a:t>
            </a:r>
          </a:p>
          <a:p>
            <a:pPr marL="800100" lvl="1" indent="-342900">
              <a:buFont typeface="Arial" panose="020B0604020202020204" pitchFamily="34" charset="0"/>
              <a:buChar char="•"/>
            </a:pPr>
            <a:r>
              <a:rPr lang="en-GB" dirty="0">
                <a:solidFill>
                  <a:schemeClr val="tx1"/>
                </a:solidFill>
              </a:rPr>
              <a:t>D</a:t>
            </a:r>
            <a:r>
              <a:rPr lang="en-GB" i="0" dirty="0">
                <a:solidFill>
                  <a:schemeClr val="tx1"/>
                </a:solidFill>
              </a:rPr>
              <a:t>istinctive by its wrinkly appearance. </a:t>
            </a:r>
          </a:p>
          <a:p>
            <a:pPr marL="342900" indent="-342900" algn="l">
              <a:buFont typeface="Arial" panose="020B0604020202020204" pitchFamily="34" charset="0"/>
              <a:buChar char="•"/>
            </a:pPr>
            <a:r>
              <a:rPr lang="en-AU" i="0" dirty="0">
                <a:solidFill>
                  <a:schemeClr val="tx1"/>
                </a:solidFill>
              </a:rPr>
              <a:t>Association areas link sensory inputs with past experiences</a:t>
            </a:r>
          </a:p>
          <a:p>
            <a:pPr marL="342900" indent="-342900" algn="l">
              <a:buFont typeface="Arial" panose="020B0604020202020204" pitchFamily="34" charset="0"/>
              <a:buChar char="•"/>
            </a:pPr>
            <a:r>
              <a:rPr lang="en-AU" i="0" dirty="0">
                <a:solidFill>
                  <a:schemeClr val="tx1"/>
                </a:solidFill>
              </a:rPr>
              <a:t>S</a:t>
            </a:r>
            <a:r>
              <a:rPr lang="en-GB" i="0" dirty="0" err="1">
                <a:solidFill>
                  <a:schemeClr val="tx1"/>
                </a:solidFill>
              </a:rPr>
              <a:t>tores</a:t>
            </a:r>
            <a:r>
              <a:rPr lang="en-GB" i="0" dirty="0">
                <a:solidFill>
                  <a:schemeClr val="tx1"/>
                </a:solidFill>
              </a:rPr>
              <a:t> declarative memories like facts, events, and concepts, in a distributed way across different regions</a:t>
            </a:r>
          </a:p>
          <a:p>
            <a:pPr marL="800100" lvl="1" indent="-342900">
              <a:buFont typeface="Arial" panose="020B0604020202020204" pitchFamily="34" charset="0"/>
              <a:buChar char="•"/>
            </a:pPr>
            <a:r>
              <a:rPr lang="en-GB" i="0" dirty="0">
                <a:solidFill>
                  <a:schemeClr val="tx1"/>
                </a:solidFill>
              </a:rPr>
              <a:t>The prefrontal cortex: Involved in working memory and short-term storage of information</a:t>
            </a:r>
          </a:p>
          <a:p>
            <a:pPr marL="800100" lvl="1" indent="-342900">
              <a:buFont typeface="Arial" panose="020B0604020202020204" pitchFamily="34" charset="0"/>
              <a:buChar char="•"/>
            </a:pPr>
            <a:r>
              <a:rPr lang="en-GB" i="0" dirty="0">
                <a:solidFill>
                  <a:schemeClr val="tx1"/>
                </a:solidFill>
              </a:rPr>
              <a:t>The temporal lobe: Contributes to long-term memory consolidation and retrieval</a:t>
            </a:r>
          </a:p>
          <a:p>
            <a:pPr marL="800100" lvl="1" indent="-342900">
              <a:buFont typeface="Arial" panose="020B0604020202020204" pitchFamily="34" charset="0"/>
              <a:buChar char="•"/>
            </a:pPr>
            <a:r>
              <a:rPr lang="en-GB" i="0" dirty="0">
                <a:solidFill>
                  <a:schemeClr val="tx1"/>
                </a:solidFill>
              </a:rPr>
              <a:t>Connections between the neocortex and subcortical structures regulate emotional memory processes</a:t>
            </a:r>
          </a:p>
          <a:p>
            <a:pPr marL="342900" indent="-342900" algn="l">
              <a:buFont typeface="Arial" panose="020B0604020202020204" pitchFamily="34" charset="0"/>
              <a:buChar char="•"/>
            </a:pPr>
            <a:endParaRPr lang="en-AU" i="0" dirty="0">
              <a:solidFill>
                <a:schemeClr val="tx1"/>
              </a:solidFill>
            </a:endParaRPr>
          </a:p>
        </p:txBody>
      </p:sp>
      <p:pic>
        <p:nvPicPr>
          <p:cNvPr id="4" name="Picture 2">
            <a:extLst>
              <a:ext uri="{FF2B5EF4-FFF2-40B4-BE49-F238E27FC236}">
                <a16:creationId xmlns:a16="http://schemas.microsoft.com/office/drawing/2014/main" id="{D6F04005-0677-AA1B-D16E-08BC2790B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2" y="1244013"/>
            <a:ext cx="4665939" cy="3972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922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93C9-DC67-456B-D5B2-5DBAB13ECE49}"/>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1141D0F3-2D72-B165-49C8-95021380383B}"/>
              </a:ext>
            </a:extLst>
          </p:cNvPr>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neo-cortex</a:t>
            </a:r>
          </a:p>
        </p:txBody>
      </p:sp>
      <p:sp>
        <p:nvSpPr>
          <p:cNvPr id="3" name="Text Placeholder 2">
            <a:extLst>
              <a:ext uri="{FF2B5EF4-FFF2-40B4-BE49-F238E27FC236}">
                <a16:creationId xmlns:a16="http://schemas.microsoft.com/office/drawing/2014/main" id="{9B4C7361-21DD-F1EF-C0AD-ED74D22E4469}"/>
              </a:ext>
            </a:extLst>
          </p:cNvPr>
          <p:cNvSpPr>
            <a:spLocks noGrp="1"/>
          </p:cNvSpPr>
          <p:nvPr>
            <p:ph type="body" idx="1"/>
          </p:nvPr>
        </p:nvSpPr>
        <p:spPr>
          <a:xfrm>
            <a:off x="733850" y="990382"/>
            <a:ext cx="10634996" cy="4577557"/>
          </a:xfrm>
        </p:spPr>
        <p:txBody>
          <a:bodyPr>
            <a:noAutofit/>
          </a:bodyPr>
          <a:lstStyle/>
          <a:p>
            <a:pPr marL="342900" indent="-342900" algn="l">
              <a:buFont typeface="Arial" panose="020B0604020202020204" pitchFamily="34" charset="0"/>
              <a:buChar char="•"/>
            </a:pPr>
            <a:r>
              <a:rPr lang="en-GB" sz="2400" i="0" dirty="0">
                <a:solidFill>
                  <a:schemeClr val="tx1"/>
                </a:solidFill>
              </a:rPr>
              <a:t>In humans, it is involved in higher functions</a:t>
            </a:r>
          </a:p>
          <a:p>
            <a:pPr marL="800100" lvl="1" indent="-342900">
              <a:buFont typeface="Arial" panose="020B0604020202020204" pitchFamily="34" charset="0"/>
              <a:buChar char="•"/>
            </a:pPr>
            <a:r>
              <a:rPr lang="en-GB" sz="2400" i="0" dirty="0">
                <a:solidFill>
                  <a:schemeClr val="tx1"/>
                </a:solidFill>
              </a:rPr>
              <a:t>Sensory perception, generation of motor commands, spatial reasoning and language</a:t>
            </a:r>
          </a:p>
          <a:p>
            <a:pPr marL="342900" indent="-342900" algn="l">
              <a:buFont typeface="Arial" panose="020B0604020202020204" pitchFamily="34" charset="0"/>
              <a:buChar char="•"/>
            </a:pPr>
            <a:r>
              <a:rPr lang="en-GB" sz="2400" i="0" dirty="0">
                <a:solidFill>
                  <a:schemeClr val="tx1"/>
                </a:solidFill>
              </a:rPr>
              <a:t>Over time, information from certain memories that are temporarily stored in the hippocampus can be transferred to the neocortex as general knowledge</a:t>
            </a:r>
          </a:p>
          <a:p>
            <a:pPr marL="800100" lvl="1" indent="-342900">
              <a:buFont typeface="Arial" panose="020B0604020202020204" pitchFamily="34" charset="0"/>
              <a:buChar char="•"/>
            </a:pPr>
            <a:r>
              <a:rPr lang="en-GB" sz="2400" dirty="0">
                <a:solidFill>
                  <a:schemeClr val="tx1"/>
                </a:solidFill>
              </a:rPr>
              <a:t>T</a:t>
            </a:r>
            <a:r>
              <a:rPr lang="en-GB" sz="2400" i="0" dirty="0">
                <a:solidFill>
                  <a:schemeClr val="tx1"/>
                </a:solidFill>
              </a:rPr>
              <a:t>hings like knowing that coffee provides a pick-me-up. </a:t>
            </a:r>
          </a:p>
          <a:p>
            <a:pPr marL="342900" indent="-342900" algn="l">
              <a:buFont typeface="Arial" panose="020B0604020202020204" pitchFamily="34" charset="0"/>
              <a:buChar char="•"/>
            </a:pPr>
            <a:r>
              <a:rPr lang="en-GB" sz="2400" i="0" dirty="0">
                <a:solidFill>
                  <a:schemeClr val="tx1"/>
                </a:solidFill>
              </a:rPr>
              <a:t>Researchers think this transfer from hippocampus to neocortex happens as we sleep.</a:t>
            </a:r>
            <a:endParaRPr lang="en-AU" sz="2400" i="0" dirty="0">
              <a:solidFill>
                <a:schemeClr val="tx1"/>
              </a:solidFill>
            </a:endParaRPr>
          </a:p>
        </p:txBody>
      </p:sp>
    </p:spTree>
    <p:extLst>
      <p:ext uri="{BB962C8B-B14F-4D97-AF65-F5344CB8AC3E}">
        <p14:creationId xmlns:p14="http://schemas.microsoft.com/office/powerpoint/2010/main" val="3608706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35E5-1869-47F9-C686-AE7EABE4E7D8}"/>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1BAA076C-FC52-18A6-3660-53B58667826F}"/>
              </a:ext>
            </a:extLst>
          </p:cNvPr>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amygdala</a:t>
            </a:r>
          </a:p>
        </p:txBody>
      </p:sp>
      <p:sp>
        <p:nvSpPr>
          <p:cNvPr id="3" name="Text Placeholder 2">
            <a:extLst>
              <a:ext uri="{FF2B5EF4-FFF2-40B4-BE49-F238E27FC236}">
                <a16:creationId xmlns:a16="http://schemas.microsoft.com/office/drawing/2014/main" id="{B823B247-23D6-C002-190B-07616E7FE333}"/>
              </a:ext>
            </a:extLst>
          </p:cNvPr>
          <p:cNvSpPr>
            <a:spLocks noGrp="1"/>
          </p:cNvSpPr>
          <p:nvPr>
            <p:ph type="body" idx="1"/>
          </p:nvPr>
        </p:nvSpPr>
        <p:spPr>
          <a:xfrm>
            <a:off x="768795" y="1083302"/>
            <a:ext cx="10442797" cy="4962222"/>
          </a:xfrm>
        </p:spPr>
        <p:txBody>
          <a:bodyPr>
            <a:normAutofit/>
          </a:bodyPr>
          <a:lstStyle/>
          <a:p>
            <a:pPr marL="342900" indent="-342900" algn="l">
              <a:buFont typeface="Arial" panose="020B0604020202020204" pitchFamily="34" charset="0"/>
              <a:buChar char="•"/>
            </a:pPr>
            <a:r>
              <a:rPr lang="en-AU" i="0" dirty="0">
                <a:solidFill>
                  <a:schemeClr val="tx1"/>
                </a:solidFill>
              </a:rPr>
              <a:t>A</a:t>
            </a:r>
            <a:r>
              <a:rPr lang="en-GB" i="0" dirty="0">
                <a:solidFill>
                  <a:schemeClr val="tx1"/>
                </a:solidFill>
              </a:rPr>
              <a:t>n almond-shaped structure in the brain’s temporal lobe</a:t>
            </a:r>
          </a:p>
          <a:p>
            <a:pPr marL="342900" indent="-342900" algn="l">
              <a:buFont typeface="Arial" panose="020B0604020202020204" pitchFamily="34" charset="0"/>
              <a:buChar char="•"/>
            </a:pPr>
            <a:r>
              <a:rPr lang="en-GB" i="0" dirty="0">
                <a:solidFill>
                  <a:schemeClr val="tx1"/>
                </a:solidFill>
              </a:rPr>
              <a:t>Attaches emotional significance to memories.</a:t>
            </a:r>
          </a:p>
          <a:p>
            <a:pPr marL="800100" lvl="1" indent="-342900">
              <a:buFont typeface="Arial" panose="020B0604020202020204" pitchFamily="34" charset="0"/>
              <a:buChar char="•"/>
            </a:pPr>
            <a:r>
              <a:rPr lang="en-GB" i="0" dirty="0">
                <a:solidFill>
                  <a:schemeClr val="tx1"/>
                </a:solidFill>
              </a:rPr>
              <a:t>Modifies the strength and emotional content of memories </a:t>
            </a:r>
          </a:p>
          <a:p>
            <a:pPr marL="800100" lvl="1" indent="-342900">
              <a:buFont typeface="Arial" panose="020B0604020202020204" pitchFamily="34" charset="0"/>
              <a:buChar char="•"/>
            </a:pPr>
            <a:r>
              <a:rPr lang="en-GB" i="0" dirty="0">
                <a:solidFill>
                  <a:schemeClr val="tx1"/>
                </a:solidFill>
              </a:rPr>
              <a:t>Strong emotional memories (e.g. those associated with shame, joy, love or grief) are difficult to forget </a:t>
            </a:r>
          </a:p>
          <a:p>
            <a:pPr marL="342900" indent="-342900" algn="l">
              <a:buFont typeface="Arial" panose="020B0604020202020204" pitchFamily="34" charset="0"/>
              <a:buChar char="•"/>
            </a:pPr>
            <a:r>
              <a:rPr lang="en-GB" i="0" dirty="0">
                <a:solidFill>
                  <a:schemeClr val="tx1"/>
                </a:solidFill>
              </a:rPr>
              <a:t>Also plays a key role in</a:t>
            </a:r>
            <a:r>
              <a:rPr lang="en-GB" i="0" u="sng" dirty="0">
                <a:solidFill>
                  <a:schemeClr val="tx1"/>
                </a:solidFill>
              </a:rPr>
              <a:t> </a:t>
            </a:r>
            <a:r>
              <a:rPr lang="en-GB" i="0" u="sng" dirty="0">
                <a:solidFill>
                  <a:schemeClr val="tx1"/>
                </a:solidFill>
                <a:hlinkClick r:id="rId3">
                  <a:extLst>
                    <a:ext uri="{A12FA001-AC4F-418D-AE19-62706E023703}">
                      <ahyp:hlinkClr xmlns:ahyp="http://schemas.microsoft.com/office/drawing/2018/hyperlinkcolor" val="tx"/>
                    </a:ext>
                  </a:extLst>
                </a:hlinkClick>
              </a:rPr>
              <a:t>forming new memories</a:t>
            </a:r>
            <a:r>
              <a:rPr lang="en-GB" i="0" u="sng" dirty="0">
                <a:solidFill>
                  <a:schemeClr val="tx1"/>
                </a:solidFill>
              </a:rPr>
              <a:t> </a:t>
            </a:r>
            <a:r>
              <a:rPr lang="en-GB" i="0" dirty="0">
                <a:solidFill>
                  <a:schemeClr val="tx1"/>
                </a:solidFill>
              </a:rPr>
              <a:t>specifically related to fear</a:t>
            </a:r>
          </a:p>
          <a:p>
            <a:pPr marL="800100" lvl="1" indent="-342900">
              <a:buFont typeface="Arial" panose="020B0604020202020204" pitchFamily="34" charset="0"/>
              <a:buChar char="•"/>
            </a:pPr>
            <a:r>
              <a:rPr lang="en-GB" i="0" dirty="0">
                <a:solidFill>
                  <a:schemeClr val="tx1"/>
                </a:solidFill>
              </a:rPr>
              <a:t>Fearful memories are able to be formed after only a few repetitions. </a:t>
            </a:r>
          </a:p>
          <a:p>
            <a:pPr marL="800100" lvl="1" indent="-342900">
              <a:buFont typeface="Arial" panose="020B0604020202020204" pitchFamily="34" charset="0"/>
              <a:buChar char="•"/>
            </a:pPr>
            <a:r>
              <a:rPr lang="en-GB" i="0" dirty="0">
                <a:solidFill>
                  <a:schemeClr val="tx1"/>
                </a:solidFill>
              </a:rPr>
              <a:t>Therefore, fear learning is a popular way to investigate the mechanisms of memory formation, consolidation and recall</a:t>
            </a:r>
          </a:p>
          <a:p>
            <a:pPr marL="800100" lvl="1" indent="-342900">
              <a:buFont typeface="Arial" panose="020B0604020202020204" pitchFamily="34" charset="0"/>
              <a:buChar char="•"/>
            </a:pPr>
            <a:r>
              <a:rPr lang="en-GB" i="0" dirty="0">
                <a:solidFill>
                  <a:schemeClr val="tx1"/>
                </a:solidFill>
              </a:rPr>
              <a:t>Understanding how the amygdala processes fear helps understand disorders like PTSD </a:t>
            </a:r>
          </a:p>
          <a:p>
            <a:pPr marL="342900" indent="-342900" algn="l">
              <a:buFont typeface="Arial" panose="020B0604020202020204" pitchFamily="34" charset="0"/>
              <a:buChar char="•"/>
            </a:pPr>
            <a:r>
              <a:rPr lang="en-GB" i="0" dirty="0">
                <a:solidFill>
                  <a:schemeClr val="tx1"/>
                </a:solidFill>
              </a:rPr>
              <a:t>Anxiety in learning situations is also likely to involve the amygdala</a:t>
            </a:r>
          </a:p>
          <a:p>
            <a:pPr marL="800100" lvl="1" indent="-342900">
              <a:buFont typeface="Arial" panose="020B0604020202020204" pitchFamily="34" charset="0"/>
              <a:buChar char="•"/>
            </a:pPr>
            <a:r>
              <a:rPr lang="en-GB" dirty="0">
                <a:solidFill>
                  <a:schemeClr val="tx1"/>
                </a:solidFill>
              </a:rPr>
              <a:t>M</a:t>
            </a:r>
            <a:r>
              <a:rPr lang="en-GB" i="0" dirty="0">
                <a:solidFill>
                  <a:schemeClr val="tx1"/>
                </a:solidFill>
              </a:rPr>
              <a:t>ay lead to avoidance of particularly challenging or stressful tasks</a:t>
            </a:r>
          </a:p>
          <a:p>
            <a:pPr marL="342900" indent="-342900" algn="l">
              <a:buFont typeface="Arial" panose="020B0604020202020204" pitchFamily="34" charset="0"/>
              <a:buChar char="•"/>
            </a:pPr>
            <a:endParaRPr lang="en-AU" i="0" dirty="0">
              <a:solidFill>
                <a:schemeClr val="tx1"/>
              </a:solidFill>
            </a:endParaRPr>
          </a:p>
        </p:txBody>
      </p:sp>
    </p:spTree>
    <p:extLst>
      <p:ext uri="{BB962C8B-B14F-4D97-AF65-F5344CB8AC3E}">
        <p14:creationId xmlns:p14="http://schemas.microsoft.com/office/powerpoint/2010/main" val="2380792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FCF7A3F-FC07-5A0B-DC3E-D99E4AD3FD72}"/>
              </a:ext>
            </a:extLst>
          </p:cNvPr>
          <p:cNvSpPr>
            <a:spLocks noGrp="1"/>
          </p:cNvSpPr>
          <p:nvPr>
            <p:ph type="body" idx="1"/>
          </p:nvPr>
        </p:nvSpPr>
        <p:spPr>
          <a:xfrm>
            <a:off x="1842898" y="292974"/>
            <a:ext cx="8401429" cy="819150"/>
          </a:xfrm>
        </p:spPr>
        <p:txBody>
          <a:bodyPr>
            <a:normAutofit/>
          </a:bodyPr>
          <a:lstStyle/>
          <a:p>
            <a:pPr algn="ctr"/>
            <a:r>
              <a:rPr lang="en-AU" sz="4000" b="1" u="sng" dirty="0">
                <a:solidFill>
                  <a:prstClr val="black"/>
                </a:solidFill>
              </a:rPr>
              <a:t>The amygdala</a:t>
            </a:r>
          </a:p>
        </p:txBody>
      </p:sp>
      <p:pic>
        <p:nvPicPr>
          <p:cNvPr id="4" name="Online Media 3" title="The Amygdala in 60 seconds">
            <a:hlinkClick r:id="" action="ppaction://media"/>
            <a:extLst>
              <a:ext uri="{FF2B5EF4-FFF2-40B4-BE49-F238E27FC236}">
                <a16:creationId xmlns:a16="http://schemas.microsoft.com/office/drawing/2014/main" id="{21DA1ECD-4F85-C763-5649-7EE299C85980}"/>
              </a:ext>
            </a:extLst>
          </p:cNvPr>
          <p:cNvPicPr>
            <a:picLocks noRot="1" noChangeAspect="1"/>
          </p:cNvPicPr>
          <p:nvPr>
            <a:videoFile r:link="rId1"/>
          </p:nvPr>
        </p:nvPicPr>
        <p:blipFill>
          <a:blip r:embed="rId3"/>
          <a:stretch>
            <a:fillRect/>
          </a:stretch>
        </p:blipFill>
        <p:spPr>
          <a:xfrm>
            <a:off x="1097862" y="1276350"/>
            <a:ext cx="9879027" cy="5581650"/>
          </a:xfrm>
          <a:prstGeom prst="rect">
            <a:avLst/>
          </a:prstGeom>
        </p:spPr>
      </p:pic>
    </p:spTree>
    <p:extLst>
      <p:ext uri="{BB962C8B-B14F-4D97-AF65-F5344CB8AC3E}">
        <p14:creationId xmlns:p14="http://schemas.microsoft.com/office/powerpoint/2010/main" val="263884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C22177-05B3-4A0C-92E0-1F3BFD6654CD}"/>
              </a:ext>
            </a:extLst>
          </p:cNvPr>
          <p:cNvSpPr>
            <a:spLocks noGrp="1"/>
          </p:cNvSpPr>
          <p:nvPr>
            <p:ph type="body" idx="1"/>
          </p:nvPr>
        </p:nvSpPr>
        <p:spPr>
          <a:xfrm>
            <a:off x="1178939" y="128132"/>
            <a:ext cx="8401429" cy="640663"/>
          </a:xfrm>
        </p:spPr>
        <p:txBody>
          <a:bodyPr>
            <a:normAutofit/>
          </a:bodyPr>
          <a:lstStyle/>
          <a:p>
            <a:pPr algn="l"/>
            <a:r>
              <a:rPr lang="en-AU" sz="2800" b="1" dirty="0"/>
              <a:t>Putting it together…</a:t>
            </a:r>
          </a:p>
        </p:txBody>
      </p:sp>
      <p:pic>
        <p:nvPicPr>
          <p:cNvPr id="4" name="Online Media 3" title="How Your Brain Stores Memories - A Simple Animated Guide">
            <a:hlinkClick r:id="" action="ppaction://media"/>
            <a:extLst>
              <a:ext uri="{FF2B5EF4-FFF2-40B4-BE49-F238E27FC236}">
                <a16:creationId xmlns:a16="http://schemas.microsoft.com/office/drawing/2014/main" id="{01AAF041-B34B-B76E-93A6-D0D24889AFE0}"/>
              </a:ext>
            </a:extLst>
          </p:cNvPr>
          <p:cNvPicPr>
            <a:picLocks noRot="1" noChangeAspect="1"/>
          </p:cNvPicPr>
          <p:nvPr>
            <a:videoFile r:link="rId1"/>
          </p:nvPr>
        </p:nvPicPr>
        <p:blipFill>
          <a:blip r:embed="rId3"/>
          <a:stretch>
            <a:fillRect/>
          </a:stretch>
        </p:blipFill>
        <p:spPr>
          <a:xfrm>
            <a:off x="1074118" y="1077478"/>
            <a:ext cx="10231012" cy="5780522"/>
          </a:xfrm>
          <a:prstGeom prst="rect">
            <a:avLst/>
          </a:prstGeom>
        </p:spPr>
      </p:pic>
    </p:spTree>
    <p:extLst>
      <p:ext uri="{BB962C8B-B14F-4D97-AF65-F5344CB8AC3E}">
        <p14:creationId xmlns:p14="http://schemas.microsoft.com/office/powerpoint/2010/main" val="110136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6B864-2B6E-0302-91C9-11D2919C5C0D}"/>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BE203D4-9A9A-9899-83F5-A93E0B8F3588}"/>
              </a:ext>
            </a:extLst>
          </p:cNvPr>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a:extLst>
              <a:ext uri="{FF2B5EF4-FFF2-40B4-BE49-F238E27FC236}">
                <a16:creationId xmlns:a16="http://schemas.microsoft.com/office/drawing/2014/main" id="{7083CB55-A229-7B85-DF7C-036EF66D1C57}"/>
              </a:ext>
            </a:extLst>
          </p:cNvPr>
          <p:cNvPicPr>
            <a:picLocks noChangeAspect="1"/>
          </p:cNvPicPr>
          <p:nvPr/>
        </p:nvPicPr>
        <p:blipFill>
          <a:blip r:embed="rId2"/>
          <a:stretch>
            <a:fillRect/>
          </a:stretch>
        </p:blipFill>
        <p:spPr>
          <a:xfrm>
            <a:off x="0" y="0"/>
            <a:ext cx="4202253" cy="6858000"/>
          </a:xfrm>
          <a:prstGeom prst="rect">
            <a:avLst/>
          </a:prstGeom>
        </p:spPr>
      </p:pic>
      <p:sp>
        <p:nvSpPr>
          <p:cNvPr id="9" name="Text Placeholder 4">
            <a:extLst>
              <a:ext uri="{FF2B5EF4-FFF2-40B4-BE49-F238E27FC236}">
                <a16:creationId xmlns:a16="http://schemas.microsoft.com/office/drawing/2014/main" id="{6D32C645-810F-1DE3-79DE-D0C11642D1DC}"/>
              </a:ext>
            </a:extLst>
          </p:cNvPr>
          <p:cNvSpPr txBox="1">
            <a:spLocks/>
          </p:cNvSpPr>
          <p:nvPr/>
        </p:nvSpPr>
        <p:spPr>
          <a:xfrm>
            <a:off x="4202253" y="1473524"/>
            <a:ext cx="7989747" cy="5004409"/>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l" defTabSz="914400" rtl="0" eaLnBrk="1" fontAlgn="auto" latinLnBrk="0" hangingPunct="1">
              <a:lnSpc>
                <a:spcPct val="113000"/>
              </a:lnSpc>
              <a:spcBef>
                <a:spcPts val="0"/>
              </a:spcBef>
              <a:spcAft>
                <a:spcPts val="0"/>
              </a:spcAft>
              <a:buClr>
                <a:srgbClr val="D34817"/>
              </a:buClr>
              <a:buSzTx/>
              <a:buFont typeface="Arial" panose="020B0604020202020204" pitchFamily="34" charset="0"/>
              <a:buNone/>
              <a:tabLst/>
              <a:defRPr/>
            </a:pPr>
            <a:endParaRPr kumimoji="0" lang="en-AU" sz="12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lvl="0" indent="-457200" algn="l">
              <a:buClr>
                <a:srgbClr val="D34817"/>
              </a:buClr>
              <a:buFont typeface="Wingdings" panose="05000000000000000000" pitchFamily="2" charset="2"/>
              <a:buChar char="§"/>
              <a:defRPr/>
            </a:pPr>
            <a:r>
              <a:rPr lang="en-AU" sz="2800" dirty="0"/>
              <a:t>Describe the role of the hippocampus, the neo-cortex and the amygdala in forming and storing explicit memories.</a:t>
            </a:r>
          </a:p>
          <a:p>
            <a:pPr marL="457200" lvl="0" indent="-457200" algn="l">
              <a:buClr>
                <a:srgbClr val="D34817"/>
              </a:buClr>
              <a:buFont typeface="Wingdings" panose="05000000000000000000" pitchFamily="2" charset="2"/>
              <a:buChar char="§"/>
              <a:defRPr/>
            </a:pPr>
            <a:r>
              <a:rPr lang="en-AU" sz="2800" dirty="0">
                <a:highlight>
                  <a:srgbClr val="FFFF00"/>
                </a:highlight>
              </a:rPr>
              <a:t>Describe the role of the cerebellum in forming implicit memories.</a:t>
            </a:r>
            <a:endParaRPr kumimoji="0" lang="en-AU" sz="2600" b="0" i="0" u="none" strike="noStrike" kern="1200" cap="none" spc="0" normalizeH="0" baseline="0" noProof="0" dirty="0">
              <a:ln>
                <a:noFill/>
              </a:ln>
              <a:solidFill>
                <a:schemeClr val="tx1"/>
              </a:solidFill>
              <a:effectLst/>
              <a:highlight>
                <a:srgbClr val="FFFF00"/>
              </a:highlight>
              <a:uLnTx/>
              <a:uFillTx/>
              <a:latin typeface="Corbel" panose="020B0503020204020204"/>
              <a:ea typeface="+mn-ea"/>
              <a:cs typeface="+mn-cs"/>
            </a:endParaRPr>
          </a:p>
          <a:p>
            <a:pPr marL="457200" marR="0" lvl="0" indent="-457200" algn="l" defTabSz="914400" rtl="0" eaLnBrk="1" fontAlgn="auto" latinLnBrk="0" hangingPunct="1">
              <a:lnSpc>
                <a:spcPct val="113000"/>
              </a:lnSpc>
              <a:spcBef>
                <a:spcPts val="0"/>
              </a:spcBef>
              <a:spcAft>
                <a:spcPts val="0"/>
              </a:spcAft>
              <a:buClr>
                <a:srgbClr val="D34817"/>
              </a:buClr>
              <a:buSzTx/>
              <a:buFont typeface="Wingdings" panose="05000000000000000000" pitchFamily="2" charset="2"/>
              <a:buChar char="§"/>
              <a:tabLst/>
              <a:defRPr/>
            </a:pPr>
            <a:endParaRPr kumimoji="0" lang="en-AU" sz="2600" b="0" i="0" u="none" strike="noStrike" kern="1200" cap="none" spc="0" normalizeH="0" baseline="0" noProof="0" dirty="0">
              <a:ln>
                <a:noFill/>
              </a:ln>
              <a:solidFill>
                <a:schemeClr val="tx1"/>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17565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85571" y="4300203"/>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cerebellum plays a role in the formation of procedural memories, specifically motor skills</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It works closely with a number of the structures in the frontal lobes to encode and process information</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Putamen, caudate nucleus and the motor cortex</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Involved in both the formation and retrieval of procedural memories</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It is the cerebellum that allows for the automation of many motor activities (riding a bike, tying shoe laces etc.) by activating the relevant neural pathways required for the task</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Cerebellum and Memory</a:t>
            </a:r>
          </a:p>
        </p:txBody>
      </p:sp>
    </p:spTree>
    <p:extLst>
      <p:ext uri="{BB962C8B-B14F-4D97-AF65-F5344CB8AC3E}">
        <p14:creationId xmlns:p14="http://schemas.microsoft.com/office/powerpoint/2010/main" val="3867460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247B9-93DF-415F-11BD-91D2627DAEB2}"/>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79239D9B-ADF0-EA52-A7DE-3B19EC930108}"/>
              </a:ext>
            </a:extLst>
          </p:cNvPr>
          <p:cNvSpPr txBox="1">
            <a:spLocks/>
          </p:cNvSpPr>
          <p:nvPr/>
        </p:nvSpPr>
        <p:spPr>
          <a:xfrm>
            <a:off x="485572" y="105103"/>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The Cerebellum and Memory</a:t>
            </a:r>
          </a:p>
        </p:txBody>
      </p:sp>
      <p:pic>
        <p:nvPicPr>
          <p:cNvPr id="4" name="Online Media 3" title="Brain Structures and Memory">
            <a:hlinkClick r:id="" action="ppaction://media"/>
            <a:extLst>
              <a:ext uri="{FF2B5EF4-FFF2-40B4-BE49-F238E27FC236}">
                <a16:creationId xmlns:a16="http://schemas.microsoft.com/office/drawing/2014/main" id="{F826EBFB-D863-D7C0-04AD-64EEFDF8AAAE}"/>
              </a:ext>
            </a:extLst>
          </p:cNvPr>
          <p:cNvPicPr>
            <a:picLocks noRot="1" noChangeAspect="1"/>
          </p:cNvPicPr>
          <p:nvPr>
            <a:videoFile r:link="rId1"/>
          </p:nvPr>
        </p:nvPicPr>
        <p:blipFill>
          <a:blip r:embed="rId4"/>
          <a:stretch>
            <a:fillRect/>
          </a:stretch>
        </p:blipFill>
        <p:spPr>
          <a:xfrm>
            <a:off x="1109893" y="996789"/>
            <a:ext cx="10373825" cy="5861211"/>
          </a:xfrm>
          <a:prstGeom prst="rect">
            <a:avLst/>
          </a:prstGeom>
        </p:spPr>
      </p:pic>
    </p:spTree>
    <p:extLst>
      <p:ext uri="{BB962C8B-B14F-4D97-AF65-F5344CB8AC3E}">
        <p14:creationId xmlns:p14="http://schemas.microsoft.com/office/powerpoint/2010/main" val="155081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33324" y="4752148"/>
            <a:ext cx="11220853"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It was due to patients with brain damage to the hippocampus that researchers were able to discover that there are actually two kinds of LTM  - Implicit  / Explicit</a:t>
            </a:r>
          </a:p>
          <a:p>
            <a:pPr marL="914400" lvl="1" indent="-457200">
              <a:lnSpc>
                <a:spcPct val="100000"/>
              </a:lnSpc>
              <a:spcBef>
                <a:spcPts val="0"/>
              </a:spcBef>
              <a:buClr>
                <a:schemeClr val="accent1"/>
              </a:buClr>
              <a:buFont typeface="Courier New" panose="02070309020205020404" pitchFamily="49" charset="0"/>
              <a:buChar char="o"/>
            </a:pPr>
            <a:r>
              <a:rPr lang="en-AU" sz="2400" i="0" dirty="0">
                <a:solidFill>
                  <a:schemeClr val="tx1"/>
                </a:solidFill>
              </a:rPr>
              <a:t>Brain scans that showed one part of the brain (hippocampus) was active for explicit (declarative) and another area (cerebellum) for implicit (procedural)</a:t>
            </a:r>
          </a:p>
          <a:p>
            <a:pPr marL="914400" lvl="1" indent="-457200">
              <a:lnSpc>
                <a:spcPct val="100000"/>
              </a:lnSpc>
              <a:spcBef>
                <a:spcPts val="0"/>
              </a:spcBef>
              <a:buClr>
                <a:schemeClr val="accent1"/>
              </a:buClr>
              <a:buFont typeface="Courier New" panose="02070309020205020404" pitchFamily="49" charset="0"/>
              <a:buChar char="o"/>
            </a:pPr>
            <a:endParaRPr lang="en-AU" sz="2400" i="0" dirty="0">
              <a:solidFill>
                <a:schemeClr val="tx1"/>
              </a:solidFill>
            </a:endParaRPr>
          </a:p>
          <a:p>
            <a:pPr marL="914400" lvl="1" indent="-457200">
              <a:lnSpc>
                <a:spcPct val="100000"/>
              </a:lnSpc>
              <a:spcBef>
                <a:spcPts val="0"/>
              </a:spcBef>
              <a:buClr>
                <a:schemeClr val="accent1"/>
              </a:buClr>
              <a:buFont typeface="Courier New" panose="02070309020205020404" pitchFamily="49" charset="0"/>
              <a:buChar char="o"/>
            </a:pPr>
            <a:r>
              <a:rPr lang="en-AU" sz="2400" dirty="0">
                <a:solidFill>
                  <a:schemeClr val="tx1"/>
                </a:solidFill>
              </a:rPr>
              <a:t>i.e. Damage to the hippocampus means that procedural learning can still occur(controlled by cerebellum) but remembering how to perform a task or skill (declarative) is not possible.</a:t>
            </a:r>
          </a:p>
          <a:p>
            <a:pPr lvl="1">
              <a:lnSpc>
                <a:spcPct val="100000"/>
              </a:lnSpc>
              <a:spcBef>
                <a:spcPts val="0"/>
              </a:spcBef>
              <a:buClr>
                <a:schemeClr val="accent1"/>
              </a:buClr>
            </a:pPr>
            <a:endParaRPr lang="en-AU" sz="2400" dirty="0">
              <a:solidFill>
                <a:schemeClr val="tx1"/>
              </a:solidFill>
            </a:endParaRPr>
          </a:p>
          <a:p>
            <a:pPr marL="800100" lvl="1" indent="-342900">
              <a:lnSpc>
                <a:spcPct val="100000"/>
              </a:lnSpc>
              <a:buClr>
                <a:schemeClr val="accent1"/>
              </a:buClr>
              <a:buFont typeface="Wingdings" panose="05000000000000000000" pitchFamily="2" charset="2"/>
              <a:buChar char="§"/>
            </a:pPr>
            <a:r>
              <a:rPr lang="en-AU" sz="2400" i="0" dirty="0">
                <a:solidFill>
                  <a:schemeClr val="tx1"/>
                </a:solidFill>
              </a:rPr>
              <a:t>Similarly studies of patients with damage to the amygdala have shown that while participants might initially react emotionally to a stimulus with an emotional connection, they will not store that emotional connection to their memory</a:t>
            </a:r>
          </a:p>
          <a:p>
            <a:pPr marL="1257300" lvl="2" indent="-342900">
              <a:lnSpc>
                <a:spcPct val="100000"/>
              </a:lnSpc>
              <a:buClr>
                <a:schemeClr val="accent1"/>
              </a:buClr>
              <a:buFont typeface="Courier New" panose="02070309020205020404" pitchFamily="49" charset="0"/>
              <a:buChar char="o"/>
            </a:pPr>
            <a:r>
              <a:rPr lang="en-AU" sz="2400" i="0" dirty="0">
                <a:solidFill>
                  <a:schemeClr val="tx1"/>
                </a:solidFill>
              </a:rPr>
              <a:t>E.g. </a:t>
            </a:r>
            <a:r>
              <a:rPr lang="en-AU" sz="2400" dirty="0">
                <a:solidFill>
                  <a:schemeClr val="tx1"/>
                </a:solidFill>
              </a:rPr>
              <a:t>Bechara – blue slide experiment and noise</a:t>
            </a: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7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85573" y="178675"/>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000" b="1" i="1" u="sng" strike="noStrike" kern="1200" cap="none" spc="0" normalizeH="0" baseline="0" noProof="0" dirty="0">
                <a:ln>
                  <a:noFill/>
                </a:ln>
                <a:solidFill>
                  <a:prstClr val="black"/>
                </a:solidFill>
                <a:effectLst/>
                <a:uLnTx/>
                <a:uFillTx/>
                <a:latin typeface="Corbel" panose="020B0503020204020204"/>
                <a:ea typeface="+mn-ea"/>
                <a:cs typeface="+mn-cs"/>
              </a:rPr>
              <a:t>Hippocampus, Amygdala and Cerebellum Studies</a:t>
            </a:r>
          </a:p>
        </p:txBody>
      </p:sp>
    </p:spTree>
    <p:extLst>
      <p:ext uri="{BB962C8B-B14F-4D97-AF65-F5344CB8AC3E}">
        <p14:creationId xmlns:p14="http://schemas.microsoft.com/office/powerpoint/2010/main" val="87039891"/>
      </p:ext>
    </p:extLst>
  </p:cSld>
  <p:clrMapOvr>
    <a:masterClrMapping/>
  </p:clrMapOvr>
</p:sld>
</file>

<file path=ppt/theme/theme1.xml><?xml version="1.0" encoding="utf-8"?>
<a:theme xmlns:a="http://schemas.openxmlformats.org/drawingml/2006/main" name="Headline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36CA9F4A-BB34-428E-BF18-E0AFB26A73AB}"/>
    </a:ext>
  </a:extLst>
</a:theme>
</file>

<file path=ppt/theme/theme2.xml><?xml version="1.0" encoding="utf-8"?>
<a:theme xmlns:a="http://schemas.openxmlformats.org/drawingml/2006/main" name="USQ Corporate Theme">
  <a:themeElements>
    <a:clrScheme name="USQ Colour Palette">
      <a:dk1>
        <a:srgbClr val="000000"/>
      </a:dk1>
      <a:lt1>
        <a:srgbClr val="FFFFFF"/>
      </a:lt1>
      <a:dk2>
        <a:srgbClr val="44546A"/>
      </a:dk2>
      <a:lt2>
        <a:srgbClr val="E7E6E6"/>
      </a:lt2>
      <a:accent1>
        <a:srgbClr val="FDBA12"/>
      </a:accent1>
      <a:accent2>
        <a:srgbClr val="B63393"/>
      </a:accent2>
      <a:accent3>
        <a:srgbClr val="0090BA"/>
      </a:accent3>
      <a:accent4>
        <a:srgbClr val="E63E30"/>
      </a:accent4>
      <a:accent5>
        <a:srgbClr val="63A945"/>
      </a:accent5>
      <a:accent6>
        <a:srgbClr val="003D6E"/>
      </a:accent6>
      <a:hlink>
        <a:srgbClr val="0563C1"/>
      </a:hlink>
      <a:folHlink>
        <a:srgbClr val="0070C0"/>
      </a:folHlink>
    </a:clrScheme>
    <a:fontScheme name="USQ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SQ_Powerpoint_Campaign_Template_1608" id="{F78DB81F-C816-4918-9279-736C8E4837AE}" vid="{1A60C3A3-A81E-4DDE-AF34-B4FC40809EA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63B95F92623546AE77EF6D06B271D8" ma:contentTypeVersion="17" ma:contentTypeDescription="Create a new document." ma:contentTypeScope="" ma:versionID="469de6f5529a9c815cf05b1ceed18ebe">
  <xsd:schema xmlns:xsd="http://www.w3.org/2001/XMLSchema" xmlns:xs="http://www.w3.org/2001/XMLSchema" xmlns:p="http://schemas.microsoft.com/office/2006/metadata/properties" xmlns:ns2="88424654-e3d7-41e6-b56b-30e9a9da64bd" xmlns:ns3="bf36cd9b-d814-458f-833b-5168f0494990" targetNamespace="http://schemas.microsoft.com/office/2006/metadata/properties" ma:root="true" ma:fieldsID="4d9171b0b02fecf7dd4848dcf9426429" ns2:_="" ns3:_="">
    <xsd:import namespace="88424654-e3d7-41e6-b56b-30e9a9da64bd"/>
    <xsd:import namespace="bf36cd9b-d814-458f-833b-5168f04949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424654-e3d7-41e6-b56b-30e9a9da6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be28029-102c-4ab0-a6bc-168c843f2380"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36cd9b-d814-458f-833b-5168f049499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9829cbb-4b66-42b9-98f1-071e930c3924}" ma:internalName="TaxCatchAll" ma:showField="CatchAllData" ma:web="bf36cd9b-d814-458f-833b-5168f04949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f36cd9b-d814-458f-833b-5168f0494990" xsi:nil="true"/>
    <lcf76f155ced4ddcb4097134ff3c332f xmlns="88424654-e3d7-41e6-b56b-30e9a9da64b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7B28C03-CD3F-4DAC-8F67-502D8BCE3928}"/>
</file>

<file path=customXml/itemProps2.xml><?xml version="1.0" encoding="utf-8"?>
<ds:datastoreItem xmlns:ds="http://schemas.openxmlformats.org/officeDocument/2006/customXml" ds:itemID="{33ADC8B8-942F-4050-81DB-4939237ECE18}">
  <ds:schemaRefs>
    <ds:schemaRef ds:uri="http://schemas.microsoft.com/sharepoint/v3/contenttype/forms"/>
  </ds:schemaRefs>
</ds:datastoreItem>
</file>

<file path=customXml/itemProps3.xml><?xml version="1.0" encoding="utf-8"?>
<ds:datastoreItem xmlns:ds="http://schemas.openxmlformats.org/officeDocument/2006/customXml" ds:itemID="{DC8EC131-AF89-4A38-BBCF-B7C0FCE9227C}">
  <ds:schemaRefs>
    <ds:schemaRef ds:uri="http://schemas.microsoft.com/office/2006/metadata/properties"/>
    <ds:schemaRef ds:uri="http://schemas.microsoft.com/office/infopath/2007/PartnerControls"/>
    <ds:schemaRef ds:uri="bf36cd9b-d814-458f-833b-5168f0494990"/>
    <ds:schemaRef ds:uri="88424654-e3d7-41e6-b56b-30e9a9da64bd"/>
  </ds:schemaRefs>
</ds:datastoreItem>
</file>

<file path=docMetadata/LabelInfo.xml><?xml version="1.0" encoding="utf-8"?>
<clbl:labelList xmlns:clbl="http://schemas.microsoft.com/office/2020/mipLabelMetadata">
  <clbl:label id="{378620f7-aa4a-40ac-902a-2ef913d8ed69}" enabled="0" method="" siteId="{378620f7-aa4a-40ac-902a-2ef913d8ed69}" removed="1"/>
  <clbl:label id="{ee462fa7-1598-4df7-a30c-def9902c6eed}" enabled="1" method="Standard" siteId="{ed7540ba-678f-4e84-badf-535778e53183}" removed="0"/>
</clbl:labelList>
</file>

<file path=docProps/app.xml><?xml version="1.0" encoding="utf-8"?>
<Properties xmlns="http://schemas.openxmlformats.org/officeDocument/2006/extended-properties" xmlns:vt="http://schemas.openxmlformats.org/officeDocument/2006/docPropsVTypes">
  <TotalTime>32853</TotalTime>
  <Words>1373</Words>
  <Application>Microsoft Office PowerPoint</Application>
  <PresentationFormat>Widescreen</PresentationFormat>
  <Paragraphs>204</Paragraphs>
  <Slides>23</Slides>
  <Notes>16</Notes>
  <HiddenSlides>0</HiddenSlides>
  <MMClips>5</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Headlines</vt:lpstr>
      <vt:lpstr>USQ Corporate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Alvernia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Veronika Blaszczynski</dc:creator>
  <cp:lastModifiedBy>Helen Ison</cp:lastModifiedBy>
  <cp:revision>156</cp:revision>
  <dcterms:created xsi:type="dcterms:W3CDTF">2020-02-04T01:40:08Z</dcterms:created>
  <dcterms:modified xsi:type="dcterms:W3CDTF">2025-11-10T12:13:43Z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0x010100D763B95F92623546AE77EF6D06B271D8</vt:lpwstr>
  </property>
  <property fmtid="{D5CDD505-2E9C-101B-9397-08002B2CF9AE}" pid="3" name="MediaServiceImageTags">
    <vt:lpwstr/>
  </property>
</Properties>
</file>